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5" Type="http://schemas.openxmlformats.org/officeDocument/2006/relationships/slide" Target="slides/slide15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7" Type="http://schemas.openxmlformats.org/officeDocument/2006/relationships/slide" Target="slides/slide7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4" Type="http://schemas.openxmlformats.org/officeDocument/2006/relationships/slide" Target="slides/slide4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notesMaster" Target="notesMasters/notesMaster1.xml" 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7.svg" /><Relationship Id="rId1" Type="http://schemas.openxmlformats.org/officeDocument/2006/relationships/image" Target="media/image16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8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9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0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1.svg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3" Type="http://schemas.openxmlformats.org/officeDocument/2006/relationships/image" Target="media/image5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Relationship Id="rId2" Type="http://schemas.openxmlformats.org/officeDocument/2006/relationships/image" Target="media/image4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pn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png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2.pn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3.png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png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width: '1280px', height: '720px', padding: 0, background: '#FFFFFF', position: 'relative', overflow: 'hidden' }}&gt;&#10;&#10;    {/* 顶部渐变装饰条（≤8px，全篇仅封面/结束页使用） */}&#10;    &lt;Box style={{ position: 'absolute', top: 0, left: 0, width: '1280px', height: '8px', background: 'linear-gradient(135deg, #0E3F8C 0%, #1E4FA8 100%)' }} /&gt;&#10;&#10;    &lt;Box style={{ flexDirection: 'row', width: '1280px', height: '720px' }}&gt;&#10;&#10;        {/* 左：文字骑入区（占 55%） */}&#10;        &lt;Box style={{ width: '700px', height: '720px', padding: '72px 48px 72px 64px', justifyContent: 'center', gap: 18 }}&gt;&#10;&#10;            &lt;Box style={{ flexDirection: 'row' }}&gt;&#10;                &lt;Box style={{ padding: '6px 16px', background: '#E8EFF8', borderRadius: 12 }}&gt;&#10;                    &lt;Text style={{ fontSize: 15, color: '#0E3F8C', fontWeight: 'bold' }}&gt;课程项目汇报 · 2026 年 10 月&lt;/Text&gt;&#10;                &lt;/Box&gt;&#10;            &lt;/Box&gt;&#10;&#10;            &lt;Text style={{ fontSize: 64, fontWeight: 'bold', color: '#0E3F8C', lineHeight: 1.15, letterSpacing: 1 }}&gt;&#10;                DeepResearch&#10;            &lt;/Text&gt;&#10;&#10;            &lt;Text style={{ fontSize: 30, fontWeight: 'bold', color: '#1A2230', lineHeight: 1.3 }}&gt;&#10;                深度研究 Agent&#10;            &lt;/Text&gt;&#10;&#10;            &lt;Text style={{ fontSize: 21, color: '#4A5568', lineHeight: 1.6 }}&gt;&#10;                把「继续检索还是收尾」的决策&lt;br /&gt;写进图结构，而不是写进提示词&#10;            &lt;/Text&gt;&#10;&#10;            &lt;Box style={{ width: '120px', height: '2px', background: '#D6DCE5', marginTop: 6 }} /&gt;&#10;&#10;            &lt;Box style={{ gap: 8, marginTop: 6 }}&gt;&#10;                &lt;Text style={{ fontSize: 17, color: '#4A5568' }}&gt;· LangGraph 多 Agent 编排，8 节点状态机&lt;/Text&gt;&#10;                &lt;Text style={{ fontSize: 17, color: '#4A5568' }}&gt;· 网络 / arXiv / 私有知识库三路证据融合&lt;/Text&gt;&#10;                &lt;Text style={{ fontSize: 17, color: '#4A5568' }}&gt;· 引用可回溯，故障可归因&lt;/Text&gt;&#10;            &lt;/Box&gt;&#10;&#10;            &lt;Box style={{ marginTop: 10, gap: 4 }}&gt;&#10;                &lt;Text style={{ fontSize: 16, color: '#1A2230', fontWeight: 'bold' }}&gt;汇报人：田金应&lt;/Text&gt;&#10;                &lt;Text style={{ fontSize: 15, color: '#8B97A8' }}&gt;安徽工业大学 · 计算机科学与技术&lt;/Text&gt;&#10;            &lt;/Box&gt;&#10;        &lt;/Box&gt;&#10;&#10;        {/* 右：L1 主视觉 —— 抽象编排线稿（占 45%） */}&#10;        &lt;Box style={{ width: '580px', height: '720px', background: '#F0F5FC', alignItems: 'center', justifyContent: 'center' }}&gt;&#10;            &lt;svg width={460} height={520} viewBox='0 0 480 520'&gt;&#10;                {/* 连接线（主链） */}&#10;                &lt;path d='M240 46 L240 86' fill='none' stroke='#3D7BD9' strokeWidth='2' /&gt;&#10;                &lt;path d='M240 124 L240 164' fill='none' stroke='#3D7BD9' strokeWidth='2' /&gt;&#10;                &lt;path d='M240 202 L240 222 L80 222 L80 248' fill='none' stroke='#3D7BD9' strokeWidth='2' /&gt;&#10;                &lt;path d='M240 202 L240 222 L400 222 L400 248' fill='none' stroke='#3D7BD9' strokeWidth='2' /&gt;&#10;                &lt;path d='M400 286 L400 326' fill='none' stroke='#3D7BD9' strokeWidth='2' /&gt;&#10;                &lt;path d='M400 364 L400 404' fill='none' stroke='#3D7BD9' strokeWidth='2' /&gt;&#10;                &lt;path d='M400 442 L400 468' fill='none' stroke='#3D7BD9' strokeWidth='2' /&gt;&#10;                &lt;path d='M150 105 L180 105' fill='none' stroke='#3D7BD9' strokeWidth='2' /&gt;&#10;                &lt;path d='M150 88 L150 122' fill='none' stroke='#3D7BD9' strokeWidth='2' /&gt;&#10;&#10;                {/* 两条回环（虚线红） */}&#10;                &lt;path d='M24 267 L10 267 L10 105 L180 105' fill='none' stroke='#D9534F' strokeWidth='2' strokeDasharray='6 4' /&gt;&#10;                &lt;path d='M456 423 L470 423 L470 345 L456 345' fill='none' stroke='#D9534F' strokeWidth='2' strokeDasharray='6 4' /&gt;&#10;&#10;                {/* 检索源标记 */}&#10;                &lt;circle cx='150' cy='88' r='7' fill='#3D7BD9' /&gt;&#10;                &lt;circle cx='150' cy='105' r='7' fill='#1E4FA8' /&gt;&#10;                &lt;circle cx='150' cy='122' r='7' fill='#3D7BD9' /&gt;&#10;&#10;                {/* 主链节点 */}&#10;                &lt;rect x='180' y='8' width='120' height='38' rx='8' fill='#0E3F8C' /&gt;&#10;                &lt;text x='240' y='33' fontSize='15' fill='#FFFFFF' textAnchor='middle' fontWeight='bold'&gt;plan&lt;/text&gt;&#10;&#10;                &lt;rect x='180' y='86' width='120' height='38' rx='8' fill='#0E3F8C' /&gt;&#10;                &lt;text x='240' y='111' fontSize='15' fill='#FFFFFF' textAnchor='middle' fontWeight='bold'&gt;research&lt;/text&gt;&#10;&#10;                &lt;rect x='180' y='164' width='120' height='38' rx='8' fill='#0E3F8C' /&gt;&#10;                &lt;text x='240' y='189' fontSize='15' fill='#FFFFFF' textAnchor='middle' fontWeight='bold'&gt;critic&lt;/text&gt;&#10;&#10;                {/* 分支节点 */}&#10;                &lt;rect x='24' y='248' width='112' height='38' rx='8' fill='#FFFFFF' stroke='#3D7BD9' strokeWidth='2' /&gt;&#10;                &lt;text x='80' y='273' fontSize='15' fill='#1A2230' textAnchor='middle' fontWeight='bold'&gt;revise&lt;/text&gt;&#10;&#10;                &lt;rect x='344' y='248' width='112' height='38' rx='8' fill='#FFFFFF' stroke='#3D7BD9' strokeWidth='2' /&gt;&#10;                &lt;text x='400' y='273' fontSize='15' fill='#1A2230' textAnchor='middle' fontWeight='bold'&gt;write&lt;/text&gt;&#10;&#10;                &lt;rect x='344' y='326' width='112' height='38' rx='8' fill='#1E4FA8' /&gt;&#10;                &lt;text x='400' y='351' fontSize='15' fill='#FFFFFF' textAnchor='middle' fontWeight='bold'&gt;validate&lt;/text&gt;&#10;&#10;                &lt;rect x='344' y='404' width='112' height='38' rx='8' fill='#FFFFFF' stroke='#3D7BD9' strokeWidth='2' /&gt;&#10;                &lt;text x='400' y='429' fontSize='15' fill='#1A2230' textAnchor='middle' fontWeight='bold'&gt;repair&lt;/text&gt;&#10;&#10;                &lt;rect x='344' y='468' width='112' height='38' rx='8' fill='#0E3F8C' /&gt;&#10;                &lt;text x='400' y='493' fontSize='15' fill='#FFFFFF' textAnchor='middle' fontWeight='bold'&gt;render&lt;/text&gt;&#10;&#10;                {/* 图例 */}&#10;                &lt;text x='240' y='514' fontSize='13' fill='#8B97A8' textAnchor='middle'&gt;实线 = 主链　虚线 = 回环&lt;/text&gt;&#10;            &lt;/svg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1047750"/>
            <a:ext cx="2257425" cy="285750"/>
          </a:xfrm>
          <a:prstGeom prst="roundRect">
            <a:avLst>
              <a:gd name="adj" fmla="val 4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1104900"/>
            <a:ext cx="1952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课程项目汇报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 · 2026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年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 10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504950"/>
            <a:ext cx="56007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800" b="1" spc="75">
                <a:solidFill>
                  <a:srgbClr val="0E3F8C"/>
                </a:solidFill>
                <a:latin typeface="Microsoft YaHei"/>
                <a:ea typeface="Microsoft YaHei"/>
              </a:rPr>
              <a:t>DeepResearch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5600700" cy="4476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深度研究</a:t>
            </a:r>
            <a:r>
              <a:rPr lang="en-US" sz="2250" b="1">
                <a:solidFill>
                  <a:srgbClr val="1A2230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143250"/>
            <a:ext cx="5600700" cy="771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把「继续检索还是收尾」的决策</a:t>
            </a:r>
            <a:endParaRPr/>
          </a:p>
          <a:p>
            <a:pPr>
              <a:lnSpc>
                <a:spcPct val="16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写进图结构，而不是写进提示词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143375"/>
            <a:ext cx="11430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4391025"/>
            <a:ext cx="5600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· LangGraph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多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Agent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编排，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8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节点状态机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4667250"/>
            <a:ext cx="5600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网络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/ arXiv /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私有知识库三路证据融合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4943475"/>
            <a:ext cx="5600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引用可回溯，故障可归因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5410200"/>
            <a:ext cx="5600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Microsoft YaHei"/>
                <a:ea typeface="Microsoft YaHei"/>
              </a:rPr>
              <a:t>汇报人：田金应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09600" y="5638800"/>
            <a:ext cx="5600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安徽工业大学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计算机科学与技术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667500" y="0"/>
            <a:ext cx="55245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pic>
        <p:nvPicPr>
          <p:cNvPr id="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39000" y="952500"/>
            <a:ext cx="4381500" cy="4953000"/>
          </a:xfrm>
          <a:prstGeom prst="rect">
            <a:avLst/>
          </a:prstGeom>
          <a:ln/>
        </p:spPr>
      </p:pic>
      <p:sp>
        <p:nvSpPr>
          <p:cNvPr id="16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E3F8C"/>
              </a:gs>
              <a:gs pos="100000">
                <a:srgbClr val="1E4FA8"/>
              </a:gs>
            </a:gsLst>
            <a:lin ang="2700000" scaled="1"/>
          </a:gradFill>
          <a:ln/>
        </p:spPr>
        <p:txBody>
          <a:bodyPr/>
          <a:p/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82" name="" descr="&lt;Slide style={{ width: '1280px', height: '720px', padding: '24px 40px', background: '#FFFFFF', justifyContent: 'flex-start' }}&gt;&#10;&#10;    {/* A · 页眉顶条 */}&#10;    &lt;Box style={{ height: '48px', background: '#0E3F8C', borderRadius: 6, flexDirection: 'row', alignItems: 'center', justifyContent: 'space-between', padding: '0 24px' }}&gt;&#10;        &lt;Text style={{ fontSize: 16, color: '#FFFFFF', fontWeight: 'bold' }}&gt;DeepResearch · 深度研究 Agent&lt;/Text&gt;&#10;        &lt;Text style={{ fontSize: 16, color: '#FFFFFF', opacity: 0.85 }}&gt;汇报目录&lt;/Text&gt;&#10;    &lt;/Box&gt;&#10;&#10;    &lt;Box style={{ height: '12px' }} /&gt;&#10;&#10;    {/* B · 标题块 */}&#10;    &lt;Box style={{ height: '72px', justifyContent: 'center', gap: 4 }}&gt;&#10;        &lt;Text style={{ fontSize: 34, fontWeight: 'bold', color: '#1A2230' }}&gt;汇报目录&lt;/Text&gt;&#10;        &lt;Text style={{ fontSize: 16, color: '#4A5568' }}&gt;五个问题，逐个回答：动机 → 架构 → 防幻觉 → 评测 → 落地&lt;/Text&gt;&#10;    &lt;/Box&gt;&#10;&#10;    &lt;Box style={{ height: '12px' }} /&gt;&#10;&#10;    {/* C · 内容区（左标题 + 右内容，非对称 28:72） */}&#10;    &lt;Box style={{ height: '484px', flexDirection: 'row', gap: 20 }}&gt;&#10;&#10;        {/* 左栏 · 导读 */}&#10;        &lt;Box style={{ width: '340px', height: '484px', background: '#E8EFF8', borderRadius: 8, padding: '28px 26px', gap: 14 }}&gt;&#10;            &lt;Box style={{ width: '4px', height: '36px', background: '#0E3F8C' }} /&gt;&#10;            &lt;Text style={{ fontSize: 22, fontWeight: 'bold', color: '#0E3F8C' }}&gt;这一份汇报想说清什么&lt;/Text&gt;&#10;            &lt;Text style={{ fontSize: 18, color: '#1A2230', lineHeight: 1.6 }}&gt;&#10;                不讲概念普及，只讲三件事：决策逻辑是怎么被建模的、效果是怎么被测出来的、以及哪些结论我们暂时还不能下。&#10;            &lt;/Text&gt;&#10;            &lt;Text style={{ fontSize: 16, color: '#4A5568', lineHeight: 1.6 }}&gt;&#10;                全篇数字均来自真实跑批与 CI 记录，不可判定的结论原样标注为「不可判定」。&#10;            &lt;/Text&gt;&#10;            &lt;Text style={{ fontSize: 16, color: '#4A5568', lineHeight: 1.6 }}&gt;&#10;                界面截图均来自本地实跑的演示模式（与生产共用同一条管线，只是不调用真实模型）。&#10;            &lt;/Text&gt;&#10;            &lt;Box style={{ marginTop: 'auto', gap: 10 }}&gt;&#10;                &lt;Box style={{ flexDirection: 'row', alignItems: 'baseline', gap: 10 }}&gt;&#10;                    &lt;Text style={{ fontSize: 40, fontWeight: 'bold', color: '#0E3F8C' }}&gt;05&lt;/Text&gt;&#10;                    &lt;Text style={{ fontSize: 16, color: '#4A5568' }}&gt;个章节&lt;/Text&gt;&#10;                &lt;/Box&gt;&#10;                &lt;Box style={{ flexDirection: 'row', alignItems: 'baseline', gap: 10 }}&gt;&#10;                    &lt;Text style={{ fontSize: 40, fontWeight: 'bold', color: '#0E3F8C' }}&gt;23&lt;/Text&gt;&#10;                    &lt;Text style={{ fontSize: 16, color: '#4A5568' }}&gt;页 · 约 15 分钟&lt;/Text&gt;&#10;                &lt;/Box&gt;&#10;            &lt;/Box&gt;&#10;        &lt;/Box&gt;&#10;&#10;        {/* 右栏 · 5 条目录 */}&#10;        &lt;Box style={{ width: '820px', height: '484px', gap: 12 }}&gt;&#10;            &lt;Box style={{ flex: 1, flexDirection: 'row', alignItems: 'center', gap: 18, padding: '0 22px', background: '#FFFFFF', border: '1px solid #D6DCE5', borderRadius: 8 }}&gt;&#10;                &lt;Box style={{ width: '44px', height: '44px', background: '#0E3F8C', borderRadius: 8, alignItems: 'center', justifyContent: 'center' }}&gt;&#10;                    &lt;Text style={{ fontSize: 20, fontWeight: 'bold', color: '#FFFFFF' }}&gt;01&lt;/Text&gt;&#10;                &lt;/Box&gt;&#10;                &lt;Box style={{ gap: 3 }}&gt;&#10;                    &lt;Text style={{ fontSize: 23, fontWeight: 'bold', color: '#1A2230' }}&gt;项目背景与目标&lt;/Text&gt;&#10;                    &lt;Text style={{ fontSize: 15, color: '#4A5568' }}&gt;单次问答为什么做不了研究，以及本项目的三个设计应答（p04–05）&lt;/Text&gt;&#10;                &lt;/Box&gt;&#10;            &lt;/Box&gt;&#10;&#10;            &lt;Box style={{ flex: 1, flexDirection: 'row', alignItems: 'center', gap: 18, padding: '0 22px', background: '#FFFFFF', border: '1px solid #D6DCE5', borderRadius: 8 }}&gt;&#10;                &lt;Box style={{ width: '44px', height: '44px', background: '#0E3F8C', borderRadius: 8, alignItems: 'center', justifyContent: 'center' }}&gt;&#10;                    &lt;Text style={{ fontSize: 20, fontWeight: 'bold', color: '#FFFFFF' }}&gt;02&lt;/Text&gt;&#10;                &lt;/Box&gt;&#10;                &lt;Box style={{ gap: 3 }}&gt;&#10;                    &lt;Text style={{ fontSize: 23, fontWeight: 'bold', color: '#1A2230' }}&gt;系统架构与核心设计&lt;/Text&gt;&#10;                    &lt;Text style={{ fontSize: 15, color: '#4A5568' }}&gt;8 节点状态机、critic 条件边与硬闸、三路检索融合（p07–09）&lt;/Text&gt;&#10;                &lt;/Box&gt;&#10;            &lt;/Box&gt;&#10;&#10;            &lt;Box style={{ flex: 1, flexDirection: 'row', alignItems: 'center', gap: 18, padding: '0 22px', background: '#FFFFFF', border: '1px solid #D6DCE5', borderRadius: 8 }}&gt;&#10;                &lt;Box style={{ width: '44px', height: '44px', background: '#0E3F8C', borderRadius: 8, alignItems: 'center', justifyContent: 'center' }}&gt;&#10;                    &lt;Text style={{ fontSize: 20, fontWeight: 'bold', color: '#FFFFFF' }}&gt;03&lt;/Text&gt;&#10;                &lt;/Box&gt;&#10;                &lt;Box style={{ gap: 3 }}&gt;&#10;                    &lt;Text style={{ fontSize: 23, fontWeight: 'bold', color: '#1A2230' }}&gt;防幻觉与证据链&lt;/Text&gt;&#10;                    &lt;Text style={{ fontSize: 15, color: '#4A5568' }}&gt;图内校验、引用溯源四桶、从「有引用」走到「可回溯」（p11–12）&lt;/Text&gt;&#10;                &lt;/Box&gt;&#10;            &lt;/Box&gt;&#10;&#10;            &lt;Box style={{ flex: 1, flexDirection: 'row', alignItems: 'center', gap: 18, padding: '0 22px', background: '#FFFFFF', border: '1px solid #D6DCE5', borderRadius: 8 }}&gt;&#10;                &lt;Box style={{ width: '44px', height: '44px', background: '#0E3F8C', borderRadius: 8, alignItems: 'center', justifyContent: 'center' }}&gt;&#10;                    &lt;Text style={{ fontSize: 20, fontWeight: 'bold', color: '#FFFFFF' }}&gt;04&lt;/Text&gt;&#10;                &lt;/Box&gt;&#10;                &lt;Box style={{ gap: 3 }}&gt;&#10;                    &lt;Text style={{ fontSize: 23, fontWeight: 'bold', color: '#1A2230' }}&gt;评测方法与实验结果&lt;/Text&gt;&#10;                    &lt;Text style={{ fontSize: 15, color: '#4A5568' }}&gt;两阶段管道、四指标对照，以及为什么不宣称质量提升（p14–16）&lt;/Text&gt;&#10;                &lt;/Box&gt;&#10;            &lt;/Box&gt;&#10;&#10;            &lt;Box style={{ flex: 1, flexDirection: 'row', alignItems: 'center', gap: 18, padding: '0 22px', background: '#FFFFFF', border: '1px solid #D6DCE5', borderRadius: 8 }}&gt;&#10;                &lt;Box style={{ width: '44px', height: '44px', background: '#0E3F8C', borderRadius: 8, alignItems: 'center', justifyContent: 'center' }}&gt;&#10;                    &lt;Text style={{ fontSize: 20, fontWeight: 'bold', color: '#FFFFFF' }}&gt;05&lt;/Text&gt;&#10;                &lt;/Box&gt;&#10;                &lt;Box style={{ gap: 3 }}&gt;&#10;                    &lt;Text style={{ fontSize: 23, fontWeight: 'bold', color: '#1A2230' }}&gt;工程落地与总结&lt;/Text&gt;&#10;                    &lt;Text style={{ fontSize: 15, color: '#4A5568' }}&gt;从 CLI 脚本到可部署服务，以及仍然没做完的部分（p18–22）&lt;/Text&gt;&#10;                &lt;/Box&gt;&#10;            &lt;/Box&gt;&#10;        &lt;/Box&gt;&#10;    &lt;/Box&gt;&#10;&#10;    &lt;Box style={{ height: '12px' }} /&gt;&#10;&#10;    {/* D · 页脚 */}&#10;    &lt;Box style={{ height: '32px', flexDirection: 'row', alignItems: 'center', justifyContent: 'space-between' }}&gt;&#10;        &lt;Text style={{ fontSize: 14, color: '#8B97A8' }}&gt;DeepResearch 项目汇报 · 2026-10&lt;/Text&gt;&#10;        &lt;Text style={{ fontSize: 14, color: '#1E4FA8' }}&gt;02 / 2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4" name=""/>
          <p:cNvSpPr/>
          <p:nvPr/>
        </p:nvSpPr>
        <p:spPr>
          <a:xfrm rot="0" flipH="0" flipV="0">
            <a:off x="381000" y="228600"/>
            <a:ext cx="11430000" cy="4572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DeepResearch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深度研究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汇报目录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381000" y="12668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五个问题，逐个回答：动机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架构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防幻觉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评测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落地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381000" y="1600200"/>
            <a:ext cx="3238500" cy="4610100"/>
          </a:xfrm>
          <a:prstGeom prst="roundRect">
            <a:avLst>
              <a:gd name="adj" fmla="val 2353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89" name=""/>
          <p:cNvSpPr/>
          <p:nvPr/>
        </p:nvSpPr>
        <p:spPr>
          <a:xfrm rot="0" flipH="0" flipV="0">
            <a:off x="628650" y="1866900"/>
            <a:ext cx="38100" cy="342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28650" y="2343150"/>
            <a:ext cx="2743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这一份汇报想说清什么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28650" y="2733675"/>
            <a:ext cx="2743200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不讲概念普及，只讲三件事：决策逻辑是怎么被建模的、效果是怎么被测出来的、以及哪些结论我们暂时还不能下。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28650" y="4191000"/>
            <a:ext cx="2743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全篇数字均来自真实跑批与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CI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记录，不可判定的结论原样标注为「不可判定」。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28650" y="4914900"/>
            <a:ext cx="27432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界面截图均来自本地实跑的演示模式（与生产共用同一条管线，只是不调用真实模型）。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28650" y="4933950"/>
            <a:ext cx="476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E3F8C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200150" y="4933950"/>
            <a:ext cx="4572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个章节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28650" y="5486400"/>
            <a:ext cx="4762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E3F8C"/>
                </a:solidFill>
                <a:latin typeface="Microsoft YaHei"/>
                <a:ea typeface="Microsoft YaHei"/>
              </a:rPr>
              <a:t>23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200150" y="5486400"/>
            <a:ext cx="10096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页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约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15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3810000" y="1600200"/>
            <a:ext cx="7810500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99" name=""/>
          <p:cNvSpPr/>
          <p:nvPr/>
        </p:nvSpPr>
        <p:spPr>
          <a:xfrm rot="0" flipH="0" flipV="0">
            <a:off x="4019550" y="18097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114800" y="19050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610100" y="1781175"/>
            <a:ext cx="43624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项目背景与目标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610100" y="2076450"/>
            <a:ext cx="4362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单次问答为什么做不了研究，以及本项目的三个设计应答（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p04–05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3810000" y="2543175"/>
            <a:ext cx="7810500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4" name=""/>
          <p:cNvSpPr/>
          <p:nvPr/>
        </p:nvSpPr>
        <p:spPr>
          <a:xfrm rot="0" flipH="0" flipV="0">
            <a:off x="4019550" y="27527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114800" y="2847975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4610100" y="2724150"/>
            <a:ext cx="4000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系统架构与核心设计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4610100" y="3019425"/>
            <a:ext cx="4000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8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节点状态机、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critic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条件边与硬闸、三路检索融合（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p07–09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3810000" y="3486150"/>
            <a:ext cx="781050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9" name=""/>
          <p:cNvSpPr/>
          <p:nvPr/>
        </p:nvSpPr>
        <p:spPr>
          <a:xfrm rot="0" flipH="0" flipV="0">
            <a:off x="4019550" y="36957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114800" y="37909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4610100" y="3676650"/>
            <a:ext cx="43624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防幻觉与证据链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4610100" y="3971925"/>
            <a:ext cx="4362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图内校验、引用溯源四桶、从「有引用」走到「可回溯」（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p11–12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3810000" y="4438650"/>
            <a:ext cx="7810500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4019550" y="46482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4114800" y="47434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610100" y="4619625"/>
            <a:ext cx="42195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评测方法与实验结果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4610100" y="4914900"/>
            <a:ext cx="4219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两阶段管道、四指标对照，以及为什么不宣称质量提升（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p14–16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3810000" y="5381625"/>
            <a:ext cx="7810500" cy="828675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4019550" y="55911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114800" y="5686425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610100" y="5562600"/>
            <a:ext cx="39433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工程落地与总结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4610100" y="5857875"/>
            <a:ext cx="3943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CLI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脚本到可部署服务，以及仍然没做完的部分（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p18–22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DeepResearch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项目汇报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2026-10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02 / 23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0972800" y="3619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汇报目录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32" name="" descr="&lt;Slide style={{ width: '1280px', height: '720px', padding: 0, background: '#0E3F8C', flexDirection: 'row', alignItems: 'center', position: 'relative', overflow: 'hidden' }}&gt;&#10;&#10;    {/* 左 · 章节数字 */}&#10;    &lt;Box style={{ width: '280px', height: '720px', alignItems: 'center', justifyContent: 'center', gap: 8 }}&gt;&#10;        &lt;Text style={{ fontSize: 150, fontWeight: 'bold', color: '#F0F5FC', opacity: 0.3, lineHeight: 1.0 }}&gt;01&lt;/Text&gt;&#10;        &lt;Text style={{ fontSize: 14, color: '#FFFFFF', opacity: 0.6, letterSpacing: 3 }}&gt;CHAPTER 01&lt;/Text&gt;&#10;    &lt;/Box&gt;&#10;&#10;    {/* 中 · 标题与要点 */}&#10;    &lt;Box style={{ width: '500px', height: '720px', justifyContent: 'center', gap: 18, paddingRight: 40 }}&gt;&#10;        &lt;Text style={{ fontSize: 40, fontWeight: 'bold', color: '#FFFFFF', lineHeight: 1.2 }}&gt;项目背景与目标&lt;/Text&gt;&#10;        &lt;Box style={{ width: '64px', height: '3px', background: '#FFFFFF', opacity: 0.5 }} /&gt;&#10;        &lt;Box style={{ gap: 12 }}&gt;&#10;            &lt;Text style={{ fontSize: 17, color: '#FFFFFF', opacity: 0.9 }}&gt;— 单次问答没有「信息充分度」概念&lt;/Text&gt;&#10;            &lt;Text style={{ fontSize: 17, color: '#FFFFFF', opacity: 0.9 }}&gt;— 检索深度靠感觉，没有显式预算&lt;/Text&gt;&#10;            &lt;Text style={{ fontSize: 17, color: '#FFFFFF', opacity: 0.9 }}&gt;— 引用生成完就交付，无人复核&lt;/Text&gt;&#10;            &lt;Text style={{ fontSize: 17, color: '#FFFFFF', opacity: 0.9 }}&gt;— 应答：critic 裁决 + 硬闸 + 图内校验&lt;/Text&gt;&#10;        &lt;/Box&gt;&#10;        &lt;Box style={{ flexDirection: 'row' }}&gt;&#10;            &lt;Box style={{ padding: '7px 14px', border: '1px solid rgba(255,255,255,0.4)', borderRadius: 14 }}&gt;&#10;                &lt;Text style={{ fontSize: 14, color: '#FFFFFF', opacity: 0.85 }}&gt;本章回答：为什么必须做成循环&lt;/Text&gt;&#10;            &lt;/Box&gt;&#10;        &lt;/Box&gt;&#10;    &lt;/Box&gt;&#10;&#10;    {/* 分隔线 */}&#10;    &lt;Box style={{ width: '1px', height: '440px', background: '#FFFFFF', opacity: 0.18 }} /&gt;&#10;&#10;    {/* 右 · 界面实拍 */}&#10;    &lt;Box style={{ width: '420px', height: '720px', alignItems: 'center', justifyContent: 'center', gap: 12 }}&gt;&#10;        &lt;Image&#10;            src='assets/ui-07-mobile.png'&#10;            style={{ width: 200, height: 430, objectFit: 'cover', borderRadius: 12, border: '2px solid rgba(255,255,255,0.35)' }}&#10;        /&gt;&#10;        &lt;Text style={{ fontSize: 12, color: '#FFFFFF', opacity: 0.6 }}&gt;界面实拍 · 窄屏自适应，无横向滚动&lt;/Text&gt;&#10;        &lt;Box style={{ flexDirection: 'row', gap: 8 }}&gt;&#10;            &lt;Box style={{ padding: '5px 12px', border: '1px solid rgba(255,255,255,0.4)', borderRadius: 12 }}&gt;&#10;                &lt;Text style={{ fontSize: 13, color: '#FFFFFF', opacity: 0.9 }}&gt;单次问答&lt;/Text&gt;&#10;            &lt;/Box&gt;&#10;            &lt;Box style={{ padding: '5px 12px', border: '1px solid rgba(255,255,255,0.4)', borderRadius: 12 }}&gt;&#10;                &lt;Text style={{ fontSize: 13, color: '#FFFFFF', opacity: 0.9 }}&gt;研究循环&lt;/Text&gt;&#10;            &lt;/Box&gt;&#10;            &lt;Box style={{ padding: '5px 12px', border: '1px solid rgba(255,255,255,0.4)', borderRadius: 12 }}&gt;&#10;                &lt;Text style={{ fontSize: 13, color: '#FFFFFF', opacity: 0.9 }}&gt;显式预算&lt;/Text&gt;&#10;            &lt;/Box&gt;&#10;        &lt;/Box&gt;&#10;    &lt;/Box&gt;&#10;&#10;    &lt;Box style={{ position: 'absolute', bottom: 28, right: 56 }}&gt;&#10;        &lt;Text style={{ fontSize: 14, color: '#FFFFFF', opacity: 0.6 }}&gt;03 / 2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2667000" y="2162175"/>
            <a:ext cx="43815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项目背景与目标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2667000" y="4400550"/>
            <a:ext cx="2133600" cy="295275"/>
          </a:xfrm>
          <a:prstGeom prst="roundRect">
            <a:avLst>
              <a:gd name="adj" fmla="val 45161"/>
            </a:avLst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6" name=""/>
          <p:cNvSpPr/>
          <p:nvPr/>
        </p:nvSpPr>
        <p:spPr>
          <a:xfrm rot="0" flipH="0" flipV="0">
            <a:off x="8486775" y="1076325"/>
            <a:ext cx="1905000" cy="409575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37" name=""/>
          <p:cNvPicPr>
            <a:picLocks noChangeAspect="1"/>
          </p:cNvPicPr>
          <p:nvPr/>
        </p:nvPicPr>
        <p:blipFill>
          <a:blip r:embed="rId1"/>
          <a:srcRect l="0" t="325" r="0" b="325"/>
          <a:stretch>
            <a:fillRect/>
          </a:stretch>
        </p:blipFill>
        <p:spPr>
          <a:xfrm rot="0" flipH="0" flipV="0">
            <a:off x="8486775" y="1076325"/>
            <a:ext cx="1905000" cy="4095750"/>
          </a:xfrm>
          <a:prstGeom prst="roundRect">
            <a:avLst>
              <a:gd name="adj" fmla="val 6000"/>
            </a:avLst>
          </a:prstGeom>
          <a:ln/>
        </p:spPr>
      </p:pic>
      <p:sp>
        <p:nvSpPr>
          <p:cNvPr id="438" name=""/>
          <p:cNvSpPr/>
          <p:nvPr/>
        </p:nvSpPr>
        <p:spPr>
          <a:xfrm rot="0" flipH="0" flipV="0">
            <a:off x="8277225" y="5543550"/>
            <a:ext cx="723900" cy="247650"/>
          </a:xfrm>
          <a:prstGeom prst="roundRect">
            <a:avLst>
              <a:gd name="adj" fmla="val 46154"/>
            </a:avLst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9" name=""/>
          <p:cNvSpPr/>
          <p:nvPr/>
        </p:nvSpPr>
        <p:spPr>
          <a:xfrm rot="0" flipH="0" flipV="0">
            <a:off x="9077325" y="5543550"/>
            <a:ext cx="723900" cy="247650"/>
          </a:xfrm>
          <a:prstGeom prst="roundRect">
            <a:avLst>
              <a:gd name="adj" fmla="val 46154"/>
            </a:avLst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0" name=""/>
          <p:cNvSpPr/>
          <p:nvPr/>
        </p:nvSpPr>
        <p:spPr>
          <a:xfrm rot="0" flipH="0" flipV="0">
            <a:off x="9877425" y="5543550"/>
            <a:ext cx="723900" cy="247650"/>
          </a:xfrm>
          <a:prstGeom prst="roundRect">
            <a:avLst>
              <a:gd name="adj" fmla="val 46154"/>
            </a:avLst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447675" y="2457450"/>
            <a:ext cx="177165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0F5FC">
                    <a:alpha val="30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790575" y="4248150"/>
            <a:ext cx="1095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CHAPTER 01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2667000" y="2886075"/>
            <a:ext cx="609600" cy="2857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2667000" y="3086100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单次问答没有「信息充分度」概念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2667000" y="340042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检索深度靠感觉，没有显式预算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2667000" y="3714750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引用生成完就交付，无人复核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2667000" y="402907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应答：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critic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裁决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硬闸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图内校验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2800350" y="446722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本章回答：为什么必须做成循环</a:t>
            </a:r>
            <a:endParaRPr/>
          </a:p>
        </p:txBody>
      </p:sp>
      <p:sp>
        <p:nvSpPr>
          <p:cNvPr id="449" name=""/>
          <p:cNvSpPr/>
          <p:nvPr/>
        </p:nvSpPr>
        <p:spPr>
          <a:xfrm rot="0" flipH="0" flipV="0">
            <a:off x="7429500" y="1333500"/>
            <a:ext cx="9525" cy="419100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8534400" y="5286375"/>
            <a:ext cx="1809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界面实拍</a:t>
            </a:r>
            <a:r>
              <a:rPr lang="en-US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窄屏自适应，无横向滚动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8391525" y="55911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单次问答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9191625" y="55911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研究循环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9991725" y="55911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显式预算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11201400" y="64293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03 / 23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55" name="" descr="&lt;Slide style={{ width: '1280px', height: '720px', padding: '24px 40px', background: '#FFFFFF' }}&gt;&#10;&#10;    {/* A · 页眉顶条 */}&#10;    &lt;Box style={{ height: '48px', background: '#0E3F8C', borderRadius: 6, flexDirection: 'row', alignItems: 'center', justifyContent: 'space-between', padding: '0 24px' }}&gt;&#10;        &lt;Text style={{ fontSize: 16, color: '#FFFFFF', fontWeight: 'bold' }}&gt;DeepResearch · 深度研究 Agent&lt;/Text&gt;&#10;        &lt;Text style={{ fontSize: 16, color: '#FFFFFF', opacity: 0.85 }}&gt;01 项目背景与目标&lt;/Text&gt;&#10;    &lt;/Box&gt;&#10;&#10;    &lt;Box style={{ height: '12px' }} /&gt;&#10;&#10;    {/* B · 标题块 */}&#10;    &lt;Box style={{ height: '72px', justifyContent: 'center', gap: 4 }}&gt;&#10;        &lt;Text style={{ fontSize: 34, fontWeight: 'bold', color: '#1A2230' }}&gt;为什么需要「深度研究」，而不是一次问答&lt;/Text&gt;&#10;        &lt;Text style={{ fontSize: 16, color: '#4A5568' }}&gt;三个缺口都指向同一件事：研究是带终止条件的循环，不是一次调用&lt;/Text&gt;&#10;    &lt;/Box&gt;&#10;&#10;    &lt;Box style={{ height: '12px' }} /&gt;&#10;&#10;    {/* C · 内容区：非对称双栏 64:36 */}&#10;    &lt;Box style={{ height: '484px', gap: 12 }}&gt;&#10;        &lt;Box style={{ flex: 1, flexDirection: 'row', gap: 20 }}&gt;&#10;&#10;            {/* 左 · 三个缺口 */}&#10;            &lt;Box style={{ width: '752px', gap: 10 }}&gt;&#10;                &lt;Box style={{ height: '80px', background: '#F7F9FC', borderRadius: 8, flexDirection: 'row', alignItems: 'center', justifyContent: 'space-around', padding: '0 20px' }}&gt;&#10;                    &lt;Box style={{ alignItems: 'center', gap: 4 }}&gt;&#10;                        &lt;Text style={{ fontSize: 15, color: '#8B97A8' }}&gt;单次问答&lt;/Text&gt;&#10;                        &lt;svg width={200} height={34} viewBox='0 0 200 34'&gt;&#10;                            &lt;rect x='0' y='7' width='52' height='20' rx='6' fill='#FFFFFF' stroke='#8B97A8' strokeWidth='1.5' /&gt;&#10;                            &lt;text x='26' y='21' fontSize='12' fill='#8B97A8' textAnchor='middle'&gt;Q&lt;/text&gt;&#10;                            &lt;path d='M56 17 L96 17' fill='none' stroke='#8B97A8' strokeWidth='1.5' /&gt;&#10;                            &lt;rect x='100' y='7' width='52' height='20' rx='6' fill='#FFFFFF' stroke='#8B97A8' strokeWidth='1.5' /&gt;&#10;                            &lt;text x='126' y='21' fontSize='12' fill='#8B97A8' textAnchor='middle'&gt;A&lt;/text&gt;&#10;                            &lt;text x='164' y='21' fontSize='12' fill='#D9534F' textAnchor='middle'&gt;够了？不知道&lt;/text&gt;&#10;                        &lt;/svg&gt;&#10;                    &lt;/Box&gt;&#10;                    &lt;Box style={{ width: '1px', height: '48px', background: '#D6DCE5' }} /&gt;&#10;                    &lt;Box style={{ alignItems: 'center', gap: 4 }}&gt;&#10;                        &lt;Text style={{ fontSize: 15, color: '#1E4FA8', fontWeight: 'bold' }}&gt;研究循环&lt;/Text&gt;&#10;                        &lt;svg width={260} height={34} viewBox='0 0 260 34'&gt;&#10;                            &lt;rect x='0' y='7' width='46' height='20' rx='6' fill='#0E3F8C' /&gt;&#10;                            &lt;text x='23' y='21' fontSize='12' fill='#FFFFFF' textAnchor='middle'&gt;Q&lt;/text&gt;&#10;                            &lt;path d='M50 17 L74 17' fill='none' stroke='#3D7BD9' strokeWidth='2' /&gt;&#10;                            &lt;rect x='78' y='7' width='86' height='20' rx='6' fill='#1E4FA8' /&gt;&#10;                            &lt;text x='121' y='21' fontSize='12' fill='#FFFFFF' textAnchor='middle'&gt;检索→裁决&lt;/text&gt;&#10;                            &lt;path d='M168 27 L196 27 L196 17 L214 17' fill='none' stroke='#D9534F' strokeWidth='2' strokeDasharray='5 3' /&gt;&#10;                            &lt;path d='M168 17 L214 17' fill='none' stroke='#3D7BD9' strokeWidth='2' /&gt;&#10;                            &lt;rect x='218' y='7' width='42' height='20' rx='6' fill='#0E3F8C' /&gt;&#10;                            &lt;text x='239' y='21' fontSize='12' fill='#FFFFFF' textAnchor='middle'&gt;报告&lt;/text&gt;&#10;                        &lt;/svg&gt;&#10;                    &lt;/Box&gt;&#10;                &lt;/Box&gt;&#10;&#10;                &lt;Box style={{ flex: 1, flexDirection: 'row', gap: 14, padding: '14px 20px', background: '#FFFFFF', border: '1px solid #D6DCE5', borderRadius: 8, alignItems: 'center' }}&gt;&#10;                    &lt;Box style={{ width: '34px', height: '34px', background: '#E8EFF8', borderRadius: 8, alignItems: 'center', justifyContent: 'center' }}&gt;&#10;                        &lt;Text style={{ fontSize: 18, fontWeight: 'bold', color: '#0E3F8C' }}&gt;1&lt;/Text&gt;&#10;                    &lt;/Box&gt;&#10;                    &lt;Box style={{ flex: 1, gap: 2 }}&gt;&#10;                        &lt;Text style={{ fontSize: 21, fontWeight: 'bold', color: '#1A2230' }}&gt;没有「信息充分度」这个概念&lt;/Text&gt;&#10;                        &lt;Text style={{ fontSize: 16, color: '#4A5568' }}&gt;一次检索不够也只能硬写，缺的部分由模型自行补全 → 幻觉温床&lt;/Text&gt;&#10;                    &lt;/Box&gt;&#10;                &lt;/Box&gt;&#10;&#10;                &lt;Box style={{ flex: 1, flexDirection: 'row', gap: 14, padding: '14px 20px', background: '#FFFFFF', border: '1px solid #D6DCE5', borderRadius: 8, alignItems: 'center' }}&gt;&#10;                    &lt;Box style={{ width: '34px', height: '34px', background: '#E8EFF8', borderRadius: 8, alignItems: 'center', justifyContent: 'center' }}&gt;&#10;                        &lt;Text style={{ fontSize: 18, fontWeight: 'bold', color: '#0E3F8C' }}&gt;2&lt;/Text&gt;&#10;                    &lt;/Box&gt;&#10;                    &lt;Box style={{ flex: 1, gap: 2 }}&gt;&#10;                        &lt;Text style={{ fontSize: 21, fontWeight: 'bold', color: '#1A2230' }}&gt;检索深度靠感觉，没有显式预算&lt;/Text&gt;&#10;                        &lt;Text style={{ fontSize: 16, color: '#4A5568' }}&gt;该停在哪一层、还能花多少跳，全凭运气；跑崩或跑飞都没人拦&lt;/Text&gt;&#10;                    &lt;/Box&gt;&#10;                &lt;/Box&gt;&#10;&#10;                &lt;Box style={{ flex: 1, flexDirection: 'row', gap: 14, padding: '14px 20px', background: '#FFFFFF', border: '1px solid #D6DCE5', borderRadius: 8, alignItems: 'center' }}&gt;&#10;                    &lt;Box style={{ width: '34px', height: '34px', background: '#E8EFF8', borderRadius: 8, alignItems: 'center', justifyContent: 'center' }}&gt;&#10;                        &lt;Text style={{ fontSize: 18, fontWeight: 'bold', color: '#0E3F8C' }}&gt;3&lt;/Text&gt;&#10;                    &lt;/Box&gt;&#10;                    &lt;Box style={{ flex: 1, gap: 2 }}&gt;&#10;                        &lt;Text style={{ fontSize: 21, fontWeight: 'bold', color: '#1A2230' }}&gt;生成完就交付，引用没人复核&lt;/Text&gt;&#10;                        &lt;Text style={{ fontSize: 16, color: '#4A5568' }}&gt;引用是否真实存在、论断是否有独立来源支撑，主流程里没有校验环节&lt;/Text&gt;&#10;                    &lt;/Box&gt;&#10;                &lt;/Box&gt;&#10;            &lt;/Box&gt;&#10;&#10;            {/* 右 · 对应应答 */}&#10;            &lt;Box style={{ width: '428px', background: '#F0F5FC', borderRadius: 8, padding: '20px 22px', gap: 12 }}&gt;&#10;                &lt;Text style={{ fontSize: 21, fontWeight: 'bold', color: '#0E3F8C' }}&gt;本项目的应答&lt;/Text&gt;&#10;                &lt;Box style={{ flex: 1, gap: 4 }}&gt;&#10;                    &lt;Text style={{ fontSize: 17, fontWeight: 'bold', color: '#1A2230' }}&gt;critic 节点裁决充分度&lt;/Text&gt;&#10;                    &lt;Text style={{ fontSize: 15, color: '#4A5568', lineHeight: 1.5 }}&gt;未达标就回填查询继续检索，达标才进入写作；充分度是图里的状态，不是提示词里的形容词&lt;/Text&gt;&#10;                &lt;/Box&gt;&#10;                &lt;Box style={{ height: '1px', background: '#D6DCE5' }} /&gt;&#10;                &lt;Box style={{ flex: 1, gap: 4 }}&gt;&#10;                    &lt;Text style={{ fontSize: 17, fontWeight: 'bold', color: '#1A2230' }}&gt;显式跳数预算 + 确定性硬闸&lt;/Text&gt;&#10;                    &lt;Text style={{ fontSize: 15, color: '#4A5568', lineHeight: 1.5 }}&gt;全局 20 跳按子问题数动态切分；depth / token 二维硬闸先于 LLM 裁决生效&lt;/Text&gt;&#10;                &lt;/Box&gt;&#10;                &lt;Box style={{ height: '1px', background: '#D6DCE5' }} /&gt;&#10;                &lt;Box style={{ flex: 1, gap: 4 }}&gt;&#10;                    &lt;Text style={{ fontSize: 17, fontWeight: 'bold', color: '#1A2230' }}&gt;validate 进入图内做双层校验&lt;/Text&gt;&#10;                    &lt;Text style={{ fontSize: 15, color: '#4A5568', lineHeight: 1.5 }}&gt;引用存在性 + 忠实度，不通过论断进附录而非删除，读者看得见才知道为何不可信&lt;/Text&gt;&#10;                &lt;/Box&gt;&#10;            &lt;/Box&gt;&#10;        &lt;/Box&gt;&#10;&#10;        {/* 底部结论条 */}&#10;        &lt;Box style={{ height: '56px', background: '#F0F5FC', borderRadius: 8, flexDirection: 'row', alignItems: 'center', padding: '0 22px', gap: 14 }}&gt;&#10;            &lt;Box style={{ width: '4px', height: '32px', background: '#1E4FA8' }} /&gt;&#10;            &lt;Text style={{ fontSize: 18, color: '#1A2230' }}&gt;所以本项目没有把研究写成一条长提示词，而是建成一张&lt;span style={{ fontWeight: 'bold', color: '#0E3F8C' }}&gt;带终止条件与回环的图&lt;/span&gt;。&lt;/Text&gt;&#10;        &lt;/Box&gt;&#10;    &lt;/Box&gt;&#10;&#10;    &lt;Box style={{ height: '12px' }} /&gt;&#10;&#10;    {/* D · 页脚 */}&#10;    &lt;Box style={{ height: '32px', flexDirection: 'row', alignItems: 'center', justifyContent: 'space-between' }}&gt;&#10;        &lt;Text style={{ fontSize: 14, color: '#8B97A8' }}&gt;DeepResearch 项目汇报 · 2026-10&lt;/Text&gt;&#10;        &lt;Text style={{ fontSize: 14, color: '#1E4FA8' }}&gt;04 / 2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7" name=""/>
          <p:cNvSpPr/>
          <p:nvPr/>
        </p:nvSpPr>
        <p:spPr>
          <a:xfrm rot="0" flipH="0" flipV="0">
            <a:off x="381000" y="228600"/>
            <a:ext cx="11430000" cy="4572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DeepResearch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深度研究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为什么需要「深度研究」，而不是一次问答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381000" y="12668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三个缺口都指向同一件事：研究是带终止条件的循环，不是一次调用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381000" y="1600200"/>
            <a:ext cx="7162800" cy="76200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1638300" y="17145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单次问答</a:t>
            </a:r>
            <a:endParaRPr/>
          </a:p>
        </p:txBody>
      </p:sp>
      <p:pic>
        <p:nvPicPr>
          <p:cNvPr id="4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71550" y="1924050"/>
            <a:ext cx="1905000" cy="323850"/>
          </a:xfrm>
          <a:prstGeom prst="rect">
            <a:avLst/>
          </a:prstGeom>
          <a:ln/>
        </p:spPr>
      </p:pic>
      <p:sp>
        <p:nvSpPr>
          <p:cNvPr id="464" name=""/>
          <p:cNvSpPr/>
          <p:nvPr/>
        </p:nvSpPr>
        <p:spPr>
          <a:xfrm rot="0" flipH="0" flipV="0">
            <a:off x="3676650" y="1752600"/>
            <a:ext cx="9525" cy="45720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5429250" y="17145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研究循环</a:t>
            </a:r>
            <a:endParaRPr/>
          </a:p>
        </p:txBody>
      </p:sp>
      <p:pic>
        <p:nvPicPr>
          <p:cNvPr id="4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476750" y="1924050"/>
            <a:ext cx="2476500" cy="323850"/>
          </a:xfrm>
          <a:prstGeom prst="rect">
            <a:avLst/>
          </a:prstGeom>
          <a:ln/>
        </p:spPr>
      </p:pic>
      <p:sp>
        <p:nvSpPr>
          <p:cNvPr id="467" name=""/>
          <p:cNvSpPr/>
          <p:nvPr/>
        </p:nvSpPr>
        <p:spPr>
          <a:xfrm rot="0" flipH="0" flipV="0">
            <a:off x="381000" y="2457450"/>
            <a:ext cx="71628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68" name=""/>
          <p:cNvSpPr/>
          <p:nvPr/>
        </p:nvSpPr>
        <p:spPr>
          <a:xfrm rot="0" flipH="0" flipV="0">
            <a:off x="571500" y="27813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76275" y="28384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1028700" y="2714625"/>
            <a:ext cx="6324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没有「信息充分度」这个概念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1028700" y="2981325"/>
            <a:ext cx="632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一次检索不够也只能硬写，缺的部分由模型自行补全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幻觉温床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381000" y="3524250"/>
            <a:ext cx="71628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73" name=""/>
          <p:cNvSpPr/>
          <p:nvPr/>
        </p:nvSpPr>
        <p:spPr>
          <a:xfrm rot="0" flipH="0" flipV="0">
            <a:off x="571500" y="38481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676275" y="39052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1028700" y="3781425"/>
            <a:ext cx="6324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检索深度靠感觉，没有显式预算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1028700" y="4048125"/>
            <a:ext cx="632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该停在哪一层、还能花多少跳，全凭运气；跑崩或跑飞都没人拦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381000" y="4591050"/>
            <a:ext cx="71628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78" name=""/>
          <p:cNvSpPr/>
          <p:nvPr/>
        </p:nvSpPr>
        <p:spPr>
          <a:xfrm rot="0" flipH="0" flipV="0">
            <a:off x="571500" y="49149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76275" y="49720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1028700" y="4848225"/>
            <a:ext cx="6324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生成完就交付，引用没人复核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1028700" y="5114925"/>
            <a:ext cx="632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引用是否真实存在、论断是否有独立来源支撑，主流程里没有校验环节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7734300" y="1600200"/>
            <a:ext cx="4076700" cy="3962400"/>
          </a:xfrm>
          <a:prstGeom prst="roundRect">
            <a:avLst>
              <a:gd name="adj" fmla="val 192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7943850" y="1790700"/>
            <a:ext cx="3657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本项目的应答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7943850" y="2152650"/>
            <a:ext cx="3657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critic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节点裁决充分度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7943850" y="2390775"/>
            <a:ext cx="3657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未达标就回填查询继续检索，达标才进入写作；充分度是图里的状态，不是提示词里的形容词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7943850" y="3181350"/>
            <a:ext cx="36576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7943850" y="3305175"/>
            <a:ext cx="3657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显式跳数预算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确定性硬闸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7943850" y="3543300"/>
            <a:ext cx="3657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全局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20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跳按子问题数动态切分；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depth / token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二维硬闸先于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LLM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裁决生效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7943850" y="4333875"/>
            <a:ext cx="36576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7943850" y="4457700"/>
            <a:ext cx="3657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validate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进入图内做双层校验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7943850" y="4695825"/>
            <a:ext cx="3657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引用存在性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忠实度，不通过论断进附录而非删除，读者看得见才知道为何不可信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381000" y="5676900"/>
            <a:ext cx="114300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93" name=""/>
          <p:cNvSpPr/>
          <p:nvPr/>
        </p:nvSpPr>
        <p:spPr>
          <a:xfrm rot="0" flipH="0" flipV="0">
            <a:off x="590550" y="5791200"/>
            <a:ext cx="3810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762000" y="5838825"/>
            <a:ext cx="617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所以本项目没有把研究写成一条长提示词，而是建成一张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带终止条件与回环的图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DeepResearch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项目汇报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2026-10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04 / 23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10287000" y="36195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01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项目背景与目标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98" name="" descr="&lt;Slide style={{ width: '1280px', height: '720px', padding: '24px 40px', background: '#FFFFFF' }}&gt;&#10;&#10;    {/* A · 页眉顶条 */}&#10;    &lt;Box style={{ height: '48px', background: '#0E3F8C', borderRadius: 6, flexDirection: 'row', alignItems: 'center', justifyContent: 'space-between', padding: '0 24px' }}&gt;&#10;        &lt;Text style={{ fontSize: 16, color: '#FFFFFF', fontWeight: 'bold' }}&gt;DeepResearch · 深度研究 Agent&lt;/Text&gt;&#10;        &lt;Text style={{ fontSize: 16, color: '#FFFFFF', opacity: 0.85 }}&gt;01 项目背景与目标&lt;/Text&gt;&#10;    &lt;/Box&gt;&#10;&#10;    &lt;Box style={{ height: '12px' }} /&gt;&#10;&#10;    {/* B · 标题块 */}&#10;    &lt;Box style={{ height: '72px', justifyContent: 'center', gap: 4 }}&gt;&#10;        &lt;Text style={{ fontSize: 34, fontWeight: 'bold', color: '#1A2230' }}&gt;一分钟看懂这个项目&lt;/Text&gt;&#10;        &lt;Text style={{ fontSize: 16, color: '#4A5568' }}&gt;输入一个研究主题，输出一份「每条论断都能追到来源」的报告&lt;/Text&gt;&#10;    &lt;/Box&gt;&#10;&#10;    &lt;Box style={{ height: '12px' }} /&gt;&#10;&#10;    {/* C · 内容区：左大图（58%）+ 右侧文字 */}&#10;    &lt;Box style={{ height: '484px', flexDirection: 'row', gap: 20 }}&gt;&#10;&#10;        {/* 左 · L1 端到端流程主干 */}&#10;        &lt;Box style={{ width: '696px', height: '484px', background: '#F7F9FC', borderRadius: 8, alignItems: 'center', justifyContent: 'center' }}&gt;&#10;            &lt;svg width={660} height={468} viewBox='0 0 660 468'&gt;&#10;                {/* 连线 */}&#10;                &lt;path d='M330 52 L330 88' fill='none' stroke='#3D7BD9' strokeWidth='2' /&gt;&#10;                &lt;path d='M330 132 L330 168' fill='none' stroke='#3D7BD9' strokeWidth='2' /&gt;&#10;                &lt;path d='M330 212 L330 232 L140 232 L140 248' fill='none' stroke='#3D7BD9' strokeWidth='2' /&gt;&#10;                &lt;path d='M330 212 L330 232 L320 232 L320 248' fill='none' stroke='#3D7BD9' strokeWidth='2' /&gt;&#10;                &lt;path d='M330 212 L330 232 L500 232 L500 248' fill='none' stroke='#3D7BD9' strokeWidth='2' /&gt;&#10;                &lt;path d='M140 288 L140 306 L330 306 L330 328' fill='none' stroke='#3D7BD9' strokeWidth='2' /&gt;&#10;                &lt;path d='M320 288 L320 306 L330 306' fill='none' stroke='#3D7BD9' strokeWidth='2' /&gt;&#10;                &lt;path d='M500 288 L500 306 L330 306' fill='none' stroke='#3D7BD9' strokeWidth='2' /&gt;&#10;                &lt;path d='M330 372 L330 392 L175 392 L175 408' fill='none' stroke='#3D7BD9' strokeWidth='2' /&gt;&#10;                &lt;path d='M290 428 L330 428' fill='none' stroke='#3D7BD9' strokeWidth='2' /&gt;&#10;                {/* 回环 */}&#10;                &lt;path d='M200 350 L36 350 L36 190 L200 190' fill='none' stroke='#D9534F' strokeWidth='2' strokeDasharray='6 4' /&gt;&#10;&#10;                {/* 输入 */}&#10;                &lt;rect x='200' y='8' width='260' height='44' rx='8' fill='#0E3F8C' /&gt;&#10;                &lt;text x='330' y='36' fontSize='16' fill='#FFFFFF' textAnchor='middle' fontWeight='bold'&gt;研究主题（一个）&lt;/text&gt;&#10;&#10;                {/* plan */}&#10;                &lt;rect x='200' y='88' width='260' height='44' rx='8' fill='#1E4FA8' /&gt;&#10;                &lt;text x='330' y='116' fontSize='16' fill='#FFFFFF' textAnchor='middle' fontWeight='bold'&gt;plan · 分解为子问题&lt;/text&gt;&#10;&#10;                {/* research */}&#10;                &lt;rect x='200' y='168' width='260' height='44' rx='8' fill='#1E4FA8' /&gt;&#10;                &lt;text x='330' y='196' fontSize='16' fill='#FFFFFF' textAnchor='middle' fontWeight='bold'&gt;research · 多跳检索&lt;/text&gt;&#10;&#10;                {/* 三路 */}&#10;                &lt;rect x='60' y='248' width='160' height='40' rx='8' fill='#FFFFFF' stroke='#3D7BD9' strokeWidth='2' /&gt;&#10;                &lt;text x='140' y='273' fontSize='14' fill='#1A2230' textAnchor='middle'&gt;网络搜索&lt;/text&gt;&#10;                &lt;rect x='240' y='248' width='160' height='40' rx='8' fill='#FFFFFF' stroke='#3D7BD9' strokeWidth='2' /&gt;&#10;                &lt;text x='320' y='273' fontSize='14' fill='#1A2230' textAnchor='middle'&gt;arXiv 学术&lt;/text&gt;&#10;                &lt;rect x='420' y='248' width='160' height='40' rx='8' fill='#FFFFFF' stroke='#3D7BD9' strokeWidth='2' /&gt;&#10;                &lt;text x='500' y='273' fontSize='14' fill='#1A2230' textAnchor='middle'&gt;私有知识库 RAG&lt;/text&gt;&#10;&#10;                {/* critic */}&#10;                &lt;rect x='200' y='328' width='260' height='44' rx='8' fill='#0E3F8C' /&gt;&#10;                &lt;text x='330' y='356' fontSize='16' fill='#FFFFFF' textAnchor='middle' fontWeight='bold'&gt;critic · 充分度裁决&lt;/text&gt;&#10;&#10;                {/* write / validate */}&#10;                &lt;rect x='60' y='408' width='230' height='40' rx='8' fill='#FFFFFF' stroke='#3D7BD9' strokeWidth='2' /&gt;&#10;                &lt;text x='175' y='433' fontSize='14' fill='#1A2230' textAnchor='middle'&gt;write → validate 校验&lt;/text&gt;&#10;                &lt;rect x='330' y='408' width='230' height='40' rx='8' fill='#0E3F8C' /&gt;&#10;                &lt;text x='445' y='433' fontSize='14' fill='#FFFFFF' textAnchor='middle' fontWeight='bold'&gt;render · 带引用报告&lt;/text&gt;&#10;&#10;                {/* 标注 */}&#10;                &lt;text x='40' y='184' fontSize='12' fill='#D9534F' textAnchor='start'&gt;未达标 → 回环继续检索&lt;/text&gt;&#10;                &lt;text x='620' y='452' fontSize='12' fill='#8B97A8' textAnchor='end'&gt;实线 = 主链　虚线 = 回环&lt;/text&gt;&#10;            &lt;/svg&gt;&#10;        &lt;/Box&gt;&#10;&#10;        {/* 右 · 三个可验证的事实 */}&#10;        &lt;Box style={{ width: '484px', height: '484px', gap: 14 }}&gt;&#10;            &lt;Box style={{ flexDirection: 'row' }}&gt;&#10;                &lt;Box style={{ padding: '6px 14px', background: '#FFC107', borderRadius: 12 }}&gt;&#10;                    &lt;Text style={{ fontSize: 14, fontWeight: 'bold', color: '#1A2230' }}&gt;可以逐项核对的事实&lt;/Text&gt;&#10;                &lt;/Box&gt;&#10;            &lt;/Box&gt;&#10;&#10;            &lt;Box style={{ flex: 1, background: '#FFFFFF', border: '1px solid #D6DCE5', borderRadius: 8, padding: '18px 20px', gap: 6 }}&gt;&#10;                &lt;Text style={{ fontSize: 24, fontWeight: 'bold', color: '#0E3F8C' }}&gt;8 节点编排&lt;/Text&gt;&#10;                &lt;Text style={{ fontSize: 16, color: '#4A5568', lineHeight: 1.55 }}&gt;&#10;                    plan / research / critic / revise / write / validate / repair / render，由 LangGraph 状态机驱动；节点是纯函数，状态用 Pydantic 类型化。&#10;                &lt;/Text&gt;&#10;            &lt;/Box&gt;&#10;&#10;            &lt;Box style={{ flex: 1, background: '#FFFFFF', border: '1px solid #D6DCE5', borderRadius: 8, padding: '18px 20px', gap: 6 }}&gt;&#10;                &lt;Text style={{ fontSize: 24, fontWeight: 'bold', color: '#0E3F8C' }}&gt;三路证据并行&lt;/Text&gt;&#10;                &lt;Text style={{ fontSize: 16, color: '#4A5568', lineHeight: 1.55 }}&gt;&#10;                    网络搜索 + arXiv 学术检索 + 私有知识库（Qdrant 向量 + BM25 混合、RRF 融合），证据按来源身份去重后入池。&#10;                &lt;/Text&gt;&#10;            &lt;/Box&gt;&#10;&#10;            &lt;Box style={{ flex: 1, background: '#F0F5FC', borderRadius: 8, padding: '18px 20px', gap: 6 }}&gt;&#10;                &lt;Text style={{ fontSize: 24, fontWeight: 'bold', color: '#0E3F8C' }}&gt;全链路可观测&lt;/Text&gt;&#10;                &lt;Text style={{ fontSize: 16, color: '#4A5568', lineHeight: 1.55 }}&gt;&#10;                    OTel trace 覆盖每个节点 span 与每次 LLM 调用（含 token 与成本估算），后端可插拔：Jaeger 或自托管 Langfuse。&#10;                &lt;/Text&gt;&#10;            &lt;/Box&gt;&#10;        &lt;/Box&gt;&#10;    &lt;/Box&gt;&#10;&#10;    &lt;Box style={{ height: '12px' }} /&gt;&#10;&#10;    {/* D · 页脚 */}&#10;    &lt;Box style={{ height: '32px', flexDirection: 'row', alignItems: 'center', justifyContent: 'space-between' }}&gt;&#10;        &lt;Text style={{ fontSize: 14, color: '#8B97A8' }}&gt;DeepResearch 项目汇报 · 2026-10&lt;/Text&gt;&#10;        &lt;Text style={{ fontSize: 14, color: '#1E4FA8' }}&gt;05 / 2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0" name=""/>
          <p:cNvSpPr/>
          <p:nvPr/>
        </p:nvSpPr>
        <p:spPr>
          <a:xfrm rot="0" flipH="0" flipV="0">
            <a:off x="381000" y="228600"/>
            <a:ext cx="11430000" cy="4572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DeepResearch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深度研究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一分钟看懂这个项目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381000" y="12668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输入一个研究主题，输出一份「每条论断都能追到来源」的报告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381000" y="1600200"/>
            <a:ext cx="6629400" cy="4610100"/>
          </a:xfrm>
          <a:prstGeom prst="roundRect">
            <a:avLst>
              <a:gd name="adj" fmla="val 1653"/>
            </a:avLst>
          </a:prstGeom>
          <a:solidFill>
            <a:srgbClr val="F7F9FC"/>
          </a:solidFill>
          <a:ln/>
        </p:spPr>
        <p:txBody>
          <a:bodyPr/>
          <a:p/>
        </p:txBody>
      </p:sp>
      <p:pic>
        <p:nvPicPr>
          <p:cNvPr id="5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52450" y="1676400"/>
            <a:ext cx="6286500" cy="4457700"/>
          </a:xfrm>
          <a:prstGeom prst="rect">
            <a:avLst/>
          </a:prstGeom>
          <a:ln/>
        </p:spPr>
      </p:pic>
      <p:sp>
        <p:nvSpPr>
          <p:cNvPr id="506" name=""/>
          <p:cNvSpPr/>
          <p:nvPr/>
        </p:nvSpPr>
        <p:spPr>
          <a:xfrm rot="0" flipH="0" flipV="0">
            <a:off x="7200900" y="1600200"/>
            <a:ext cx="1466850" cy="276225"/>
          </a:xfrm>
          <a:prstGeom prst="roundRect">
            <a:avLst>
              <a:gd name="adj" fmla="val 41379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7334250" y="1657350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2230"/>
                </a:solidFill>
                <a:latin typeface="Microsoft YaHei"/>
                <a:ea typeface="Microsoft YaHei"/>
              </a:rPr>
              <a:t>可以逐项核对的事实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7200900" y="2009775"/>
            <a:ext cx="4610100" cy="1533525"/>
          </a:xfrm>
          <a:prstGeom prst="roundRect">
            <a:avLst>
              <a:gd name="adj" fmla="val 496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7391400" y="2181225"/>
            <a:ext cx="422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8 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节点编排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7391400" y="2514600"/>
            <a:ext cx="42291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plan / research / critic / revise / write / validate / repair / render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，由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LangGraph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状态机驱动；节点是纯函数，状态用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Pydantic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类型化。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7200900" y="3676650"/>
            <a:ext cx="4610100" cy="1247775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7391400" y="3848100"/>
            <a:ext cx="422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三路证据并行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7391400" y="4181475"/>
            <a:ext cx="4229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网络搜索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+ arXiv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学术检索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私有知识库（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Qdrant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向量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+ BM25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混合、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RRF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融合），证据按来源身份去重后入池。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7200900" y="5057775"/>
            <a:ext cx="4610100" cy="1247775"/>
          </a:xfrm>
          <a:prstGeom prst="roundRect">
            <a:avLst>
              <a:gd name="adj" fmla="val 610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7391400" y="5229225"/>
            <a:ext cx="422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全链路可观测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7391400" y="5562600"/>
            <a:ext cx="4229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OTel trace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覆盖每个节点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span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与每次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LLM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调用（含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token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与成本估算），后端可插拔：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Jaeger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或自托管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Langfuse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DeepResearch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项目汇报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2026-10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05 / 23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10287000" y="36195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01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项目背景与目标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520" name="" descr="&lt;Slide style={{ width: '1280px', height: '720px', padding: 0, background: '#0E3F8C', flexDirection: 'row', alignItems: 'center', position: 'relative', overflow: 'hidden' }}&gt;&#10;&#10;    &lt;Box style={{ width: '280px', height: '720px', alignItems: 'center', justifyContent: 'center', gap: 8 }}&gt;&#10;        &lt;Text style={{ fontSize: 150, fontWeight: 'bold', color: '#F0F5FC', opacity: 0.3, lineHeight: 1.0 }}&gt;02&lt;/Text&gt;&#10;        &lt;Text style={{ fontSize: 14, color: '#FFFFFF', opacity: 0.6, letterSpacing: 3 }}&gt;CHAPTER 02&lt;/Text&gt;&#10;    &lt;/Box&gt;&#10;&#10;    &lt;Box style={{ width: '500px', height: '720px', justifyContent: 'center', gap: 18, paddingRight: 40 }}&gt;&#10;        &lt;Text style={{ fontSize: 40, fontWeight: 'bold', color: '#FFFFFF', lineHeight: 1.2 }}&gt;系统架构与核心设计&lt;/Text&gt;&#10;        &lt;Box style={{ width: '64px', height: '3px', background: '#FFFFFF', opacity: 0.5 }} /&gt;&#10;        &lt;Box style={{ gap: 12 }}&gt;&#10;            &lt;Text style={{ fontSize: 17, color: '#FFFFFF', opacity: 0.9 }}&gt;— 8 节点状态机，节点是纯函数&lt;/Text&gt;&#10;            &lt;Text style={{ fontSize: 17, color: '#FFFFFF', opacity: 0.9 }}&gt;— critic 四态条件边，硬闸先于 LLM&lt;/Text&gt;&#10;            &lt;Text style={{ fontSize: 17, color: '#FFFFFF', opacity: 0.9 }}&gt;— 两条回环都有上限，超限确定性收口&lt;/Text&gt;&#10;            &lt;Text style={{ fontSize: 17, color: '#FFFFFF', opacity: 0.9 }}&gt;— 三路检索并行，RRF 融合入证据池&lt;/Text&gt;&#10;        &lt;/Box&gt;&#10;        &lt;Box style={{ flexDirection: 'row' }}&gt;&#10;            &lt;Box style={{ padding: '7px 14px', border: '1px solid rgba(255,255,255,0.4)', borderRadius: 14 }}&gt;&#10;                &lt;Text style={{ fontSize: 14, color: '#FFFFFF', opacity: 0.85 }}&gt;本章回答：决策放在哪里&lt;/Text&gt;&#10;            &lt;/Box&gt;&#10;        &lt;/Box&gt;&#10;    &lt;/Box&gt;&#10;&#10;    &lt;Box style={{ width: '1px', height: '440px', background: '#FFFFFF', opacity: 0.18 }} /&gt;&#10;&#10;    &lt;Box style={{ width: '420px', height: '720px', alignItems: 'center', justifyContent: 'center', gap: 12 }}&gt;&#10;        &lt;Image&#10;            src='assets/ui-02-running.png'&#10;            style={{ width: 368, height: 230, objectFit: 'cover', borderRadius: 12, border: '2px solid rgba(255,255,255,0.35)' }}&#10;        /&gt;&#10;        &lt;Text style={{ fontSize: 12, color: '#FFFFFF', opacity: 0.6 }}&gt;界面实拍 · 运行中：depth=2、裁决=continue&lt;/Text&gt;&#10;        &lt;Box style={{ flexDirection: 'row', gap: 8 }}&gt;&#10;            &lt;Box style={{ padding: '5px 12px', border: '1px solid rgba(255,255,255,0.4)', borderRadius: 12 }}&gt;&#10;                &lt;Text style={{ fontSize: 13, color: '#FFFFFF', opacity: 0.9 }}&gt;8 节点&lt;/Text&gt;&#10;            &lt;/Box&gt;&#10;            &lt;Box style={{ padding: '5px 12px', border: '1px solid rgba(255,255,255,0.4)', borderRadius: 12 }}&gt;&#10;                &lt;Text style={{ fontSize: 13, color: '#FFFFFF', opacity: 0.9 }}&gt;2 回环&lt;/Text&gt;&#10;            &lt;/Box&gt;&#10;            &lt;Box style={{ padding: '5px 12px', border: '1px solid rgba(255,255,255,0.4)', borderRadius: 12 }}&gt;&#10;                &lt;Text style={{ fontSize: 13, color: '#FFFFFF', opacity: 0.9 }}&gt;20 跳预算&lt;/Text&gt;&#10;            &lt;/Box&gt;&#10;        &lt;/Box&gt;&#10;    &lt;/Box&gt;&#10;&#10;    &lt;Box style={{ position: 'absolute', bottom: 28, right: 56 }}&gt;&#10;        &lt;Text style={{ fontSize: 14, color: '#FFFFFF', opacity: 0.6 }}&gt;06 / 2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2667000" y="2162175"/>
            <a:ext cx="43815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系统架构与核心设计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2667000" y="4400550"/>
            <a:ext cx="1733550" cy="295275"/>
          </a:xfrm>
          <a:prstGeom prst="roundRect">
            <a:avLst>
              <a:gd name="adj" fmla="val 45161"/>
            </a:avLst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4" name=""/>
          <p:cNvSpPr/>
          <p:nvPr/>
        </p:nvSpPr>
        <p:spPr>
          <a:xfrm rot="0" flipH="0" flipV="0">
            <a:off x="7686675" y="2028825"/>
            <a:ext cx="3505200" cy="219075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25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7686675" y="2028825"/>
            <a:ext cx="3505200" cy="2190750"/>
          </a:xfrm>
          <a:prstGeom prst="roundRect">
            <a:avLst>
              <a:gd name="adj" fmla="val 5217"/>
            </a:avLst>
          </a:prstGeom>
          <a:ln/>
        </p:spPr>
      </p:pic>
      <p:sp>
        <p:nvSpPr>
          <p:cNvPr id="526" name=""/>
          <p:cNvSpPr/>
          <p:nvPr/>
        </p:nvSpPr>
        <p:spPr>
          <a:xfrm rot="0" flipH="0" flipV="0">
            <a:off x="8382000" y="4591050"/>
            <a:ext cx="590550" cy="247650"/>
          </a:xfrm>
          <a:prstGeom prst="roundRect">
            <a:avLst>
              <a:gd name="adj" fmla="val 46154"/>
            </a:avLst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7" name=""/>
          <p:cNvSpPr/>
          <p:nvPr/>
        </p:nvSpPr>
        <p:spPr>
          <a:xfrm rot="0" flipH="0" flipV="0">
            <a:off x="9048750" y="4591050"/>
            <a:ext cx="590550" cy="247650"/>
          </a:xfrm>
          <a:prstGeom prst="roundRect">
            <a:avLst>
              <a:gd name="adj" fmla="val 46154"/>
            </a:avLst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8" name=""/>
          <p:cNvSpPr/>
          <p:nvPr/>
        </p:nvSpPr>
        <p:spPr>
          <a:xfrm rot="0" flipH="0" flipV="0">
            <a:off x="9715500" y="4591050"/>
            <a:ext cx="790575" cy="247650"/>
          </a:xfrm>
          <a:prstGeom prst="roundRect">
            <a:avLst>
              <a:gd name="adj" fmla="val 46154"/>
            </a:avLst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447675" y="2457450"/>
            <a:ext cx="177165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0F5FC">
                    <a:alpha val="30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790575" y="4248150"/>
            <a:ext cx="1095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CHAPTER 02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2667000" y="2886075"/>
            <a:ext cx="609600" cy="2857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2667000" y="3086100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 8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节点状态机，节点是纯函数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2667000" y="340042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 critic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四态条件边，硬闸先于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LLM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2667000" y="3714750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两条回环都有上限，超限确定性收口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2667000" y="402907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三路检索并行，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RRF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融合入证据池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2800350" y="446722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本章回答：决策放在哪里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7429500" y="1333500"/>
            <a:ext cx="9525" cy="419100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8239125" y="4333875"/>
            <a:ext cx="2400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界面实拍</a:t>
            </a:r>
            <a:r>
              <a:rPr lang="en-US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运行中：</a:t>
            </a:r>
            <a:r>
              <a:rPr lang="en-US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depth=2</a:t>
            </a:r>
            <a:r>
              <a:rPr lang="zh-CN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、裁决</a:t>
            </a:r>
            <a:r>
              <a:rPr lang="en-US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=continue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8496300" y="4638675"/>
            <a:ext cx="361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8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节点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9163050" y="4638675"/>
            <a:ext cx="361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2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回环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9829800" y="4638675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20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跳预算</a:t>
            </a:r>
            <a:endParaRPr/>
          </a:p>
        </p:txBody>
      </p:sp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11201400" y="64293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06 / 23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43" name="" descr="&lt;Slide style={{ width: '1280px', height: '720px', padding: '24px 40px', background: '#FFFFFF' }}&gt;&#10;&#10;    {/* A · 页眉顶条 */}&#10;    &lt;Box style={{ height: '48px', background: '#0E3F8C', borderRadius: 6, flexDirection: 'row', alignItems: 'center', justifyContent: 'space-between', padding: '0 24px' }}&gt;&#10;        &lt;Text style={{ fontSize: 16, color: '#FFFFFF', fontWeight: 'bold' }}&gt;DeepResearch · 深度研究 Agent&lt;/Text&gt;&#10;        &lt;Text style={{ fontSize: 16, color: '#FFFFFF', opacity: 0.85 }}&gt;02 系统架构与核心设计&lt;/Text&gt;&#10;    &lt;/Box&gt;&#10;&#10;    &lt;Box style={{ height: '12px' }} /&gt;&#10;&#10;    {/* B · 标题块 */}&#10;    &lt;Box style={{ height: '72px', justifyContent: 'center', gap: 4 }}&gt;&#10;        &lt;Text style={{ fontSize: 34, fontWeight: 'bold', color: '#1A2230' }}&gt;核心架构：8 节点状态机与两条回环&lt;/Text&gt;&#10;        &lt;Text style={{ fontSize: 16, color: '#4A5568' }}&gt;拓扑是代码里的真实结构，不是示意图——回环、条件边与终止条件都写在图上&lt;/Text&gt;&#10;    &lt;/Box&gt;&#10;&#10;    &lt;Box style={{ height: '12px' }} /&gt;&#10;&#10;    {/* C · 内容区：上大图（58%）+ 下方三卡 */}&#10;    &lt;Box style={{ height: '484px', gap: 12 }}&gt;&#10;&#10;        {/* 上 · L1 拓扑图 */}&#10;        &lt;Box style={{ height: '280px', background: '#F7F9FC', borderRadius: 8, alignItems: 'center', justifyContent: 'center' }}&gt;&#10;            &lt;svg width={1160} height={264} viewBox='0 0 1160 264'&gt;&#10;                {/* 主链连线 */}&#10;                &lt;path d='M146 127 L186 127' fill='none' stroke='#3D7BD9' strokeWidth='2' /&gt;&#10;                &lt;path d='M312 127 L352 127' fill='none' stroke='#3D7BD9' strokeWidth='2' /&gt;&#10;                &lt;path d='M478 127 L518 127' fill='none' stroke='#3D7BD9' strokeWidth='2' /&gt;&#10;                &lt;path d='M644 127 L684 127' fill='none' stroke='#3D7BD9' strokeWidth='2' /&gt;&#10;                &lt;path d='M810 127 L834 127 L834 63 L850 63' fill='none' stroke='#3D7BD9' strokeWidth='2' /&gt;&#10;                &lt;path d='M976 63 L1016 104' fill='none' stroke='#3D7BD9' strokeWidth='2' /&gt;&#10;                &lt;path d='M913 86 L913 168' fill='none' stroke='#3D7BD9' strokeWidth='2' /&gt;&#10;&#10;                {/* 回环 1：critic → research（继续检索） */}&#10;                &lt;path d='M415 150 L415 206 L249 206 L249 150' fill='none' stroke='#D9534F' strokeWidth='2' strokeDasharray='6 4' /&gt;&#10;                {/* 回环 2：revise → research（回填查询） */}&#10;                &lt;path d='M581 104 L581 44 L249 44 L249 104' fill='none' stroke='#D9534F' strokeWidth='2' strokeDasharray='6 4' /&gt;&#10;                {/* 回环 3：repair → validate（有界返工） */}&#10;                &lt;path d='M1079 150 L1079 232 L913 232 L913 86' fill='none' stroke='#D9534F' strokeWidth='2' strokeDasharray='6 4' /&gt;&#10;&#10;                {/* 节点 */}&#10;                &lt;rect x='20' y='104' width='126' height='46' rx='8' fill='#0E3F8C' /&gt;&#10;                &lt;text x='83' y='132' fontSize='15' fill='#FFFFFF' textAnchor='middle' fontWeight='bold'&gt;plan&lt;/text&gt;&#10;&#10;                &lt;rect x='186' y='104' width='126' height='46' rx='8' fill='#0E3F8C' /&gt;&#10;                &lt;text x='249' y='132' fontSize='15' fill='#FFFFFF' textAnchor='middle' fontWeight='bold'&gt;research&lt;/text&gt;&#10;&#10;                &lt;rect x='352' y='104' width='126' height='46' rx='8' fill='#0E3F8C' /&gt;&#10;                &lt;text x='415' y='132' fontSize='15' fill='#FFFFFF' textAnchor='middle' fontWeight='bold'&gt;critic&lt;/text&gt;&#10;&#10;                &lt;rect x='518' y='104' width='126' height='46' rx='8' fill='#FFFFFF' stroke='#3D7BD9' strokeWidth='2' /&gt;&#10;                &lt;text x='581' y='132' fontSize='15' fill='#1A2230' textAnchor='middle' fontWeight='bold'&gt;revise&lt;/text&gt;&#10;&#10;                &lt;rect x='684' y='104' width='126' height='46' rx='8' fill='#1E4FA8' /&gt;&#10;                &lt;text x='747' y='132' fontSize='15' fill='#FFFFFF' textAnchor='middle' fontWeight='bold'&gt;write&lt;/text&gt;&#10;&#10;                &lt;rect x='850' y='40' width='126' height='46' rx='8' fill='#1E4FA8' /&gt;&#10;                &lt;text x='913' y='68' fontSize='15' fill='#FFFFFF' textAnchor='middle' fontWeight='bold'&gt;validate&lt;/text&gt;&#10;&#10;                &lt;rect x='1016' y='104' width='126' height='46' rx='8' fill='#FFFFFF' stroke='#3D7BD9' strokeWidth='2' /&gt;&#10;                &lt;text x='1079' y='132' fontSize='15' fill='#1A2230' textAnchor='middle' fontWeight='bold'&gt;repair&lt;/text&gt;&#10;&#10;                &lt;rect x='850' y='168' width='126' height='46' rx='8' fill='#0E3F8C' /&gt;&#10;                &lt;text x='913' y='196' fontSize='15' fill='#FFFFFF' textAnchor='middle' fontWeight='bold'&gt;render&lt;/text&gt;&#10;&#10;                {/* 标注 */}&#10;                &lt;text x='249' y='226' fontSize='12' fill='#D9534F' textAnchor='middle'&gt;回环①② 检索未达标&lt;/text&gt;&#10;                &lt;text x='1079' y='252' fontSize='12' fill='#D9534F' textAnchor='middle'&gt;回环③ 有界返工（至多 1 次）&lt;/text&gt;&#10;                &lt;text x='581' y='34' fontSize='12' fill='#8B97A8' textAnchor='middle'&gt;方向跑偏时全量重分解&lt;/text&gt;&#10;            &lt;/svg&gt;&#10;        &lt;/Box&gt;&#10;&#10;        {/* 下 · 三张支撑卡 */}&#10;        &lt;Box style={{ flex: 1, flexDirection: 'row', gap: 16 }}&gt;&#10;            &lt;Box style={{ flex: 1, background: '#FFFFFF', border: '1px solid #D6DCE5', borderRadius: 8, padding: '16px 20px', gap: 6 }}&gt;&#10;                &lt;Text style={{ fontSize: 22, fontWeight: 'bold', color: '#0E3F8C' }}&gt;节点是纯函数&lt;/Text&gt;&#10;                &lt;Text style={{ fontSize: 15, color: '#4A5568', lineHeight: 1.55 }}&gt;&#10;                    每个节点只做「读 state → 产出局部更新」，不持有隐藏上下文，因此可以脱离整图单独测试与替换。&#10;                &lt;/Text&gt;&#10;            &lt;/Box&gt;&#10;&#10;            &lt;Box style={{ flex: 1, background: '#FFFFFF', border: '1px solid #D6DCE5', borderRadius: 8, padding: '16px 20px', gap: 6 }}&gt;&#10;                &lt;Text style={{ fontSize: 22, fontWeight: 'bold', color: '#0E3F8C' }}&gt;状态类型化&lt;/Text&gt;&#10;                &lt;Text style={{ fontSize: 15, color: '#4A5568', lineHeight: 1.55 }}&gt;&#10;                    全局状态为 Pydantic &lt;span style={{ fontWeight: 'bold' }}&gt;ResearchState&lt;/span&gt;；findings 刻意不加 reducer，让「谁写了什么」保持可追踪。&#10;                &lt;/Text&gt;&#10;            &lt;/Box&gt;&#10;&#10;            &lt;Box style={{ flex: 1, background: '#F0F5FC', borderRadius: 8, padding: '16px 20px', gap: 6 }}&gt;&#10;                &lt;Text style={{ fontSize: 22, fontWeight: 'bold', color: '#0E3F8C' }}&gt;回环有上限&lt;/Text&gt;&#10;                &lt;Text style={{ fontSize: 15, color: '#4A5568', lineHeight: 1.55 }}&gt;&#10;                    检索回环由跳数预算封顶，校验回环至多返工 1 次；超限时走确定性硬闸收口，不会无限循环。&#10;                &lt;/Text&gt;&#10;            &lt;/Box&gt;&#10;        &lt;/Box&gt;&#10;    &lt;/Box&gt;&#10;&#10;    &lt;Box style={{ height: '12px' }} /&gt;&#10;&#10;    {/* D · 页脚 */}&#10;    &lt;Box style={{ height: '32px', flexDirection: 'row', alignItems: 'center', justifyContent: 'space-between' }}&gt;&#10;        &lt;Text style={{ fontSize: 14, color: '#8B97A8' }}&gt;DeepResearch 项目汇报 · 2026-10&lt;/Text&gt;&#10;        &lt;Text style={{ fontSize: 14, color: '#1E4FA8' }}&gt;07 / 2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5" name=""/>
          <p:cNvSpPr/>
          <p:nvPr/>
        </p:nvSpPr>
        <p:spPr>
          <a:xfrm rot="0" flipH="0" flipV="0">
            <a:off x="381000" y="228600"/>
            <a:ext cx="11430000" cy="4572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DeepResearch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深度研究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核心架构：</a:t>
            </a:r>
            <a:r>
              <a:rPr lang="en-US" sz="2550" b="1">
                <a:solidFill>
                  <a:srgbClr val="1A2230"/>
                </a:solidFill>
                <a:latin typeface="Microsoft YaHei"/>
                <a:ea typeface="Microsoft YaHei"/>
              </a:rPr>
              <a:t>8 </a:t>
            </a: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节点状态机与两条回环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381000" y="12668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拓扑是代码里的真实结构，不是示意图——回环、条件边与终止条件都写在图上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381000" y="1600200"/>
            <a:ext cx="11430000" cy="2667000"/>
          </a:xfrm>
          <a:prstGeom prst="roundRect">
            <a:avLst>
              <a:gd name="adj" fmla="val 2857"/>
            </a:avLst>
          </a:prstGeom>
          <a:solidFill>
            <a:srgbClr val="F7F9FC"/>
          </a:solidFill>
          <a:ln/>
        </p:spPr>
        <p:txBody>
          <a:bodyPr/>
          <a:p/>
        </p:txBody>
      </p:sp>
      <p:pic>
        <p:nvPicPr>
          <p:cNvPr id="5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" y="1676400"/>
            <a:ext cx="11049000" cy="2514600"/>
          </a:xfrm>
          <a:prstGeom prst="rect">
            <a:avLst/>
          </a:prstGeom>
          <a:ln/>
        </p:spPr>
      </p:pic>
      <p:sp>
        <p:nvSpPr>
          <p:cNvPr id="551" name=""/>
          <p:cNvSpPr/>
          <p:nvPr/>
        </p:nvSpPr>
        <p:spPr>
          <a:xfrm rot="0" flipH="0" flipV="0">
            <a:off x="381000" y="4381500"/>
            <a:ext cx="3705225" cy="1828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571500" y="4533900"/>
            <a:ext cx="3324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节点是纯函数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571500" y="4848225"/>
            <a:ext cx="33242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每个节点只做「读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state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产出局部更新」，不持有隐藏上下文，因此可以脱离整图单独测试与替换。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4238625" y="4381500"/>
            <a:ext cx="3714750" cy="18288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4429125" y="4533900"/>
            <a:ext cx="3333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状态类型化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4429125" y="4848225"/>
            <a:ext cx="33337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全局状态为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Pydantic </a:t>
            </a:r>
            <a:r>
              <a:rPr lang="en-US" sz="1125" b="1">
                <a:solidFill>
                  <a:srgbClr val="4A5568"/>
                </a:solidFill>
                <a:latin typeface="Microsoft YaHei"/>
                <a:ea typeface="Microsoft YaHei"/>
              </a:rPr>
              <a:t>ResearchState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；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findings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刻意不加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reducer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，让「谁写了什么」保持可追踪。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8105775" y="4381500"/>
            <a:ext cx="3705225" cy="1828800"/>
          </a:xfrm>
          <a:prstGeom prst="roundRect">
            <a:avLst>
              <a:gd name="adj" fmla="val 416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8296275" y="4533900"/>
            <a:ext cx="3324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回环有上限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8296275" y="4848225"/>
            <a:ext cx="33242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检索回环由跳数预算封顶，校验回环至多返工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1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次；超限时走确定性硬闸收口，不会无限循环。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DeepResearch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项目汇报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2026-10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07 / 23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9982200" y="3619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02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系统架构与核心设计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63" name="" descr="&lt;Slide style={{ width: '1280px', height: '720px', padding: '24px 40px', background: '#FFFFFF' }}&gt;&#10;&#10;    {/* A · 页眉顶条 */}&#10;    &lt;Box style={{ height: '48px', background: '#0E3F8C', borderRadius: 6, flexDirection: 'row', alignItems: 'center', justifyContent: 'space-between', padding: '0 24px' }}&gt;&#10;        &lt;Text style={{ fontSize: 16, color: '#FFFFFF', fontWeight: 'bold' }}&gt;DeepResearch · 深度研究 Agent&lt;/Text&gt;&#10;        &lt;Text style={{ fontSize: 16, color: '#FFFFFF', opacity: 0.85 }}&gt;02 系统架构与核心设计&lt;/Text&gt;&#10;    &lt;/Box&gt;&#10;&#10;    &lt;Box style={{ height: '12px' }} /&gt;&#10;&#10;    {/* B · 标题块 */}&#10;    &lt;Box style={{ height: '72px', justifyContent: 'center', gap: 4 }}&gt;&#10;        &lt;Text style={{ fontSize: 34, fontWeight: 'bold', color: '#1A2230' }}&gt;决策循环在图里，不在提示词里&lt;/Text&gt;&#10;        &lt;Text style={{ fontSize: 16, color: '#4A5568' }}&gt;critic 输出的是四态枚举，由状态机走边；硬闸是确定性的，先于模型裁决生效&lt;/Text&gt;&#10;    &lt;/Box&gt;&#10;&#10;    &lt;Box style={{ height: '12px' }} /&gt;&#10;&#10;    {/* C · 内容区：左大图 56% + 右侧文字 */}&#10;    &lt;Box style={{ height: '484px', gap: 12 }}&gt;&#10;        &lt;Box style={{ flex: 1, flexDirection: 'row', gap: 20 }}&gt;&#10;&#10;            {/* 左 · L1 四态条件边 */}&#10;            &lt;Box style={{ width: '672px', background: '#F7F9FC', borderRadius: 8, alignItems: 'center', justifyContent: 'center' }}&gt;&#10;                &lt;svg width={640} height={404} viewBox='0 0 640 404'&gt;&#10;                    {/* research → critic */}&#10;                    &lt;path d='M128 194 L176 194' fill='none' stroke='#3D7BD9' strokeWidth='2' /&gt;&#10;                    {/* critic → 四个出口 */}&#10;                    &lt;path d='M328 194 L362 194 L362 50 L392 50' fill='none' stroke='#3D7BD9' strokeWidth='2' /&gt;&#10;                    &lt;path d='M328 194 L362 194 L362 138 L392 138' fill='none' stroke='#3D7BD9' strokeWidth='2' /&gt;&#10;                    &lt;path d='M328 194 L362 194 L362 226 L392 226' fill='none' stroke='#3D7BD9' strokeWidth='2' /&gt;&#10;                    &lt;path d='M328 194 L362 194 L362 314 L392 314' fill='none' stroke='#3D7BD9' strokeWidth='2' /&gt;&#10;                    {/* continue 回环 */}&#10;                    &lt;path d='M508 24 L508 8 L72 8 L72 172' fill='none' stroke='#D9534F' strokeWidth='2' strokeDasharray='6 4' /&gt;&#10;&#10;                    {/* research */}&#10;                    &lt;rect x='16' y='172' width='112' height='44' rx='8' fill='#0E3F8C' /&gt;&#10;                    &lt;text x='72' y='200' fontSize='15' fill='#FFFFFF' textAnchor='middle' fontWeight='bold'&gt;research&lt;/text&gt;&#10;&#10;                    {/* critic */}&#10;                    &lt;rect x='176' y='148' width='152' height='92' rx='8' fill='#0E3F8C' /&gt;&#10;                    &lt;text x='252' y='178' fontSize='16' fill='#FFFFFF' textAnchor='middle' fontWeight='bold'&gt;critic&lt;/text&gt;&#10;                    &lt;text x='252' y='204' fontSize='13' fill='#F0F5FC' textAnchor='middle'&gt;① 硬闸（确定性）&lt;/text&gt;&#10;                    &lt;text x='252' y='226' fontSize='13' fill='#F0F5FC' textAnchor='middle'&gt;② LLM 结构化裁决&lt;/text&gt;&#10;&#10;                    {/* 出口 1 */}&#10;                    &lt;rect x='392' y='24' width='232' height='52' rx='8' fill='#FFFFFF' stroke='#3D7BD9' strokeWidth='2' /&gt;&#10;                    &lt;text x='508' y='46' fontSize='15' fill='#1A2230' textAnchor='middle' fontWeight='bold'&gt;continue&lt;/text&gt;&#10;                    &lt;text x='508' y='66' fontSize='13' fill='#4A5568' textAnchor='middle'&gt;继续下一跳检索&lt;/text&gt;&#10;&#10;                    {/* 出口 2 */}&#10;                    &lt;rect x='392' y='112' width='232' height='52' rx='8' fill='#FFFFFF' stroke='#3D7BD9' strokeWidth='2' /&gt;&#10;                    &lt;text x='508' y='134' fontSize='15' fill='#1A2230' textAnchor='middle' fontWeight='bold'&gt;augment&lt;/text&gt;&#10;                    &lt;text x='508' y='154' fontSize='13' fill='#4A5568' textAnchor='middle'&gt;gap 查询回填 frontier&lt;/text&gt;&#10;&#10;                    {/* 出口 3 */}&#10;                    &lt;rect x='392' y='200' width='232' height='52' rx='8' fill='#FFFFFF' stroke='#3D7BD9' strokeWidth='2' /&gt;&#10;                    &lt;text x='508' y='222' fontSize='15' fill='#1A2230' textAnchor='middle' fontWeight='bold'&gt;revise&lt;/text&gt;&#10;                    &lt;text x='508' y='242' fontSize='13' fill='#4A5568' textAnchor='middle'&gt;方向跑偏：全量重分解&lt;/text&gt;&#10;&#10;                    {/* 出口 4 */}&#10;                    &lt;rect x='392' y='288' width='232' height='52' rx='8' fill='#1E4FA8' /&gt;&#10;                    &lt;text x='508' y='310' fontSize='15' fill='#FFFFFF' textAnchor='middle' fontWeight='bold'&gt;stop&lt;/text&gt;&#10;                    &lt;text x='508' y='330' fontSize='13' fill='#F0F5FC' textAnchor='middle'&gt;进入 write 写作&lt;/text&gt;&#10;&#10;                    &lt;text x='252' y='272' fontSize='12' fill='#8B97A8' textAnchor='middle'&gt;硬闸未触发，才走 LLM 裁决&lt;/text&gt;&#10;                    &lt;text x='252' y='380' fontSize='12' fill='#D9534F' textAnchor='middle'&gt;虚线 = continue 回环（受跳数预算封顶）&lt;/text&gt;&#10;                &lt;/svg&gt;&#10;            &lt;/Box&gt;&#10;&#10;            {/* 右 · 论述 */}&#10;            &lt;Box style={{ width: '508px', gap: 14 }}&gt;&#10;                &lt;Box style={{ gap: 6 }}&gt;&#10;                    &lt;Text style={{ fontSize: 23, fontWeight: 'bold', color: '#0E3F8C' }}&gt;路由是纯函数，不是模型心情&lt;/Text&gt;&#10;                    &lt;Text style={{ fontSize: 16, color: '#4A5568', lineHeight: 1.55 }}&gt;&#10;                        critic 不允许输出「我觉得差不多了」这类自由文本，只输出四态枚举；走哪条边由状态机决定，与模型的表达风格无关。&#10;                    &lt;/Text&gt;&#10;                &lt;/Box&gt;&#10;&#10;                &lt;Box style={{ height: '1px', background: '#D6DCE5' }} /&gt;&#10;&#10;                &lt;Box style={{ gap: 6 }}&gt;&#10;                    &lt;Text style={{ fontSize: 23, fontWeight: 'bold', color: '#0E3F8C' }}&gt;硬闸确定性优先&lt;/Text&gt;&#10;                    &lt;Text style={{ fontSize: 16, color: '#4A5568', lineHeight: 1.55 }}&gt;&#10;                        depth 与 token 两维硬闸先判定：模型说「继续」但已经超预算，就停在边界上。&lt;span style={{ fontWeight: 'bold' }}&gt;不把终止权交给模型自觉。&lt;/span&gt;&#10;                    &lt;/Text&gt;&#10;                &lt;/Box&gt;&#10;&#10;                &lt;Box style={{ height: '1px', background: '#D6DCE5' }} /&gt;&#10;&#10;                &lt;Box style={{ gap: 6 }}&gt;&#10;                    &lt;Text style={{ fontSize: 23, fontWeight: 'bold', color: '#0E3F8C' }}&gt;一个踩过的坑&lt;/Text&gt;&#10;                    &lt;Text style={{ fontSize: 16, color: '#4A5568', lineHeight: 1.55 }}&gt;&#10;                        早期把「frontier 空」也设为硬闸，结果单个子问题只能研究一跳就停。后来删掉这条，把收敛交给 critic 的语义判断。&#10;                    &lt;/Text&gt;&#10;                &lt;/Box&gt;&#10;&#10;                &lt;Box style={{ marginTop: 'auto', background: '#F0F5FC', borderRadius: 8, padding: '14px 18px', gap: 4 }}&gt;&#10;                    &lt;Text style={{ fontSize: 16, color: '#1A2230', lineHeight: 1.5 }}&gt;&#10;                        换句话说：防幻觉不是靠提示词里写「请务必核实」，而是靠&lt;span style={{ fontWeight: 'bold', color: '#0E3F8C' }}&gt;图结构上必须有这道闸&lt;/span&gt;。&#10;                    &lt;/Text&gt;&#10;                &lt;/Box&gt;&#10;            &lt;/Box&gt;&#10;        &lt;/Box&gt;&#10;&#10;        {/* 底部结论条 */}&#10;        &lt;Box style={{ height: '56px', background: '#F0F5FC', borderRadius: 8, flexDirection: 'row', alignItems: 'center', padding: '0 22px', gap: 14 }}&gt;&#10;            &lt;Box style={{ width: '4px', height: '32px', background: '#1E4FA8' }} /&gt;&#10;            &lt;Text style={{ fontSize: 18, color: '#1A2230' }}&gt;把判断放在图里，意味着它是&lt;span style={{ fontWeight: 'bold', color: '#0E3F8C' }}&gt;可被测试、可被复现&lt;/span&gt;的——这是后面评测能做对照实验的前提。&lt;/Text&gt;&#10;        &lt;/Box&gt;&#10;    &lt;/Box&gt;&#10;&#10;    &lt;Box style={{ height: '12px' }} /&gt;&#10;&#10;    {/* D · 页脚 */}&#10;    &lt;Box style={{ height: '32px', flexDirection: 'row', alignItems: 'center', justifyContent: 'space-between' }}&gt;&#10;        &lt;Text style={{ fontSize: 14, color: '#8B97A8' }}&gt;DeepResearch 项目汇报 · 2026-10&lt;/Text&gt;&#10;        &lt;Text style={{ fontSize: 14, color: '#1E4FA8' }}&gt;08 / 2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5" name=""/>
          <p:cNvSpPr/>
          <p:nvPr/>
        </p:nvSpPr>
        <p:spPr>
          <a:xfrm rot="0" flipH="0" flipV="0">
            <a:off x="381000" y="228600"/>
            <a:ext cx="11430000" cy="4572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DeepResearch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深度研究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决策循环在图里，不在提示词里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381000" y="12668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critic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输出的是四态枚举，由状态机走边；硬闸是确定性的，先于模型裁决生效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381000" y="1600200"/>
            <a:ext cx="6400800" cy="4191000"/>
          </a:xfrm>
          <a:prstGeom prst="roundRect">
            <a:avLst>
              <a:gd name="adj" fmla="val 1818"/>
            </a:avLst>
          </a:prstGeom>
          <a:solidFill>
            <a:srgbClr val="F7F9FC"/>
          </a:solidFill>
          <a:ln/>
        </p:spPr>
        <p:txBody>
          <a:bodyPr/>
          <a:p/>
        </p:txBody>
      </p:sp>
      <p:pic>
        <p:nvPicPr>
          <p:cNvPr id="5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33400" y="1771650"/>
            <a:ext cx="6096000" cy="3848100"/>
          </a:xfrm>
          <a:prstGeom prst="rect">
            <a:avLst/>
          </a:prstGeom>
          <a:ln/>
        </p:spPr>
      </p:pic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972300" y="1600200"/>
            <a:ext cx="48387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路由是纯函数，不是模型心情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6972300" y="1924050"/>
            <a:ext cx="48387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critic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不允许输出「我觉得差不多了」这类自由文本，只输出四态枚举；走哪条边由状态机决定，与模型的表达风格无关。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6972300" y="2628900"/>
            <a:ext cx="48387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6972300" y="2771775"/>
            <a:ext cx="48387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硬闸确定性优先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6972300" y="3095625"/>
            <a:ext cx="48387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depth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token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两维硬闸先判定：模型说「继续」但已经超预算，就停在边界上。</a:t>
            </a:r>
            <a:r>
              <a:rPr lang="zh-CN" sz="1200" b="1">
                <a:solidFill>
                  <a:srgbClr val="4A5568"/>
                </a:solidFill>
                <a:latin typeface="Microsoft YaHei"/>
                <a:ea typeface="Microsoft YaHei"/>
              </a:rPr>
              <a:t>不把终止权交给模型自觉。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6972300" y="3800475"/>
            <a:ext cx="48387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6972300" y="3943350"/>
            <a:ext cx="48387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一个踩过的坑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6972300" y="4267200"/>
            <a:ext cx="48387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早期把「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frontier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空」也设为硬闸，结果单个子问题只能研究一跳就停。后来删掉这条，把收敛交给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critic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的语义判断。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6972300" y="4972050"/>
            <a:ext cx="4838700" cy="819150"/>
          </a:xfrm>
          <a:prstGeom prst="roundRect">
            <a:avLst>
              <a:gd name="adj" fmla="val 930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7143750" y="5105400"/>
            <a:ext cx="4495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换句话说：防幻觉不是靠提示词里写「请务必核实」，而是靠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图结构上必须有这道闸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381000" y="5905500"/>
            <a:ext cx="114300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82" name=""/>
          <p:cNvSpPr/>
          <p:nvPr/>
        </p:nvSpPr>
        <p:spPr>
          <a:xfrm rot="0" flipH="0" flipV="0">
            <a:off x="590550" y="6019800"/>
            <a:ext cx="3810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762000" y="6067425"/>
            <a:ext cx="7058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把判断放在图里，意味着它是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可被测试、可被复现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的——这是后面评测能做对照实验的前提。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DeepResearch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项目汇报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2026-10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08 / 23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9982200" y="3619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02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系统架构与核心设计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87" name="" descr="&lt;Slide style={{ width: '1280px', height: '720px', padding: '24px 40px', background: '#FFFFFF' }}&gt;&#10;&#10;    {/* A · 页眉顶条 */}&#10;    &lt;Box style={{ height: '48px', background: '#0E3F8C', borderRadius: 6, flexDirection: 'row', alignItems: 'center', justifyContent: 'space-between', padding: '0 24px' }}&gt;&#10;        &lt;Text style={{ fontSize: 16, color: '#FFFFFF', fontWeight: 'bold' }}&gt;DeepResearch · 深度研究 Agent&lt;/Text&gt;&#10;        &lt;Text style={{ fontSize: 16, color: '#FFFFFF', opacity: 0.85 }}&gt;02 系统架构与核心设计&lt;/Text&gt;&#10;    &lt;/Box&gt;&#10;&#10;    &lt;Box style={{ height: '12px' }} /&gt;&#10;&#10;    {/* B · 标题块 */}&#10;    &lt;Box style={{ height: '72px', justifyContent: 'center', gap: 4 }}&gt;&#10;        &lt;Text style={{ fontSize: 34, fontWeight: 'bold', color: '#1A2230' }}&gt;多跳检索与三路证据融合&lt;/Text&gt;&#10;        &lt;Text style={{ fontSize: 16, color: '#4A5568' }}&gt;并行召回 → 融合去重 → 入证据池，每一步的预算都是显式给定的&lt;/Text&gt;&#10;    &lt;/Box&gt;&#10;&#10;    &lt;Box style={{ height: '12px' }} /&gt;&#10;&#10;    {/* C · 内容区：非对称双栏 60:40 */}&#10;    &lt;Box style={{ height: '484px', flexDirection: 'row', gap: 20 }}&gt;&#10;&#10;        {/* 左 · L1 三路召回 + RRF 融合 */}&#10;        &lt;Box style={{ width: '720px', background: '#F7F9FC', borderRadius: 8, alignItems: 'center', justifyContent: 'center' }}&gt;&#10;            &lt;svg width={700} height={464} viewBox='0 0 700 464'&gt;&#10;                {/* 查询 → 三路 */}&#10;                &lt;path d='M350 48 L350 72 L110 72 L110 100' fill='none' stroke='#3D7BD9' strokeWidth='2' /&gt;&#10;                &lt;path d='M350 48 L350 100' fill='none' stroke='#3D7BD9' strokeWidth='2' /&gt;&#10;                &lt;path d='M350 48 L350 72 L590 72 L590 100' fill='none' stroke='#3D7BD9' strokeWidth='2' /&gt;&#10;                {/* 三路 → 融合 */}&#10;                &lt;path d='M110 144 L110 168 L350 168 L350 190' fill='none' stroke='#3D7BD9' strokeWidth='2' /&gt;&#10;                &lt;path d='M350 144 L350 190' fill='none' stroke='#3D7BD9' strokeWidth='2' /&gt;&#10;                &lt;path d='M590 144 L590 168 L350 168 L350 190' fill='none' stroke='#3D7BD9' strokeWidth='2' /&gt;&#10;                {/* 融合 → 证据池 */}&#10;                &lt;path d='M350 238 L350 280' fill='none' stroke='#3D7BD9' strokeWidth='2' /&gt;&#10;                {/* 预算旁路 */}&#10;                &lt;path d='M180 315 L200 315' fill='none' stroke='#D9534F' strokeWidth='2' strokeDasharray='6 4' /&gt;&#10;&#10;                {/* 查询 */}&#10;                &lt;rect x='250' y='8' width='200' height='40' rx='8' fill='#0E3F8C' /&gt;&#10;                &lt;text x='350' y='33' fontSize='15' fill='#FFFFFF' textAnchor='middle' fontWeight='bold'&gt;子问题的一条查询&lt;/text&gt;&#10;&#10;                {/* 三路 */}&#10;                &lt;rect x='20' y='100' width='180' height='44' rx='8' fill='#FFFFFF' stroke='#3D7BD9' strokeWidth='2' /&gt;&#10;                &lt;text x='110' y='127' fontSize='14' fill='#1A2230' textAnchor='middle'&gt;网络搜索（博查 / Tavily）&lt;/text&gt;&#10;&#10;                &lt;rect x='260' y='100' width='180' height='44' rx='8' fill='#FFFFFF' stroke='#3D7BD9' strokeWidth='2' /&gt;&#10;                &lt;text x='350' y='127' fontSize='14' fill='#1A2230' textAnchor='middle'&gt;arXiv 学术检索&lt;/text&gt;&#10;&#10;                &lt;rect x='500' y='100' width='180' height='44' rx='8' fill='#FFFFFF' stroke='#3D7BD9' strokeWidth='2' /&gt;&#10;                &lt;text x='590' y='127' fontSize='14' fill='#1A2230' textAnchor='middle'&gt;私有知识库 RAG&lt;/text&gt;&#10;&#10;                {/* 融合 */}&#10;                &lt;rect x='250' y='190' width='200' height='48' rx='8' fill='#1E4FA8' /&gt;&#10;                &lt;text x='350' y='212' fontSize='15' fill='#FFFFFF' textAnchor='middle' fontWeight='bold'&gt;RRF 融合&lt;/text&gt;&#10;                &lt;text x='350' y='231' fontSize='12' fill='#F0F5FC' textAnchor='middle'&gt;向量 + BM25 双路召回&lt;/text&gt;&#10;&#10;                {/* 证据池 */}&#10;                &lt;rect x='200' y='280' width='300' height='70' rx='8' fill='#0E3F8C' /&gt;&#10;                &lt;text x='350' y='306' fontSize='15' fill='#FFFFFF' textAnchor='middle' fontWeight='bold'&gt;证据池&lt;/text&gt;&#10;                &lt;text x='350' y='326' fontSize='12' fill='#F0F5FC' textAnchor='middle'&gt;内容寻址 evidence_id + origin 链&lt;/text&gt;&#10;                &lt;text x='350' y='342' fontSize='12' fill='#F0F5FC' textAnchor='middle'&gt;跨来源身份去重，同名不同文档不混编&lt;/text&gt;&#10;&#10;                {/* 预算 */}&#10;                &lt;rect x='20' y='280' width='160' height='70' rx='8' fill='#FFFFFF' stroke='#D9534F' strokeWidth='2' /&gt;&#10;                &lt;text x='100' y='304' fontSize='13' fill='#D9534F' textAnchor='middle' fontWeight='bold'&gt;跳数预算&lt;/text&gt;&#10;                &lt;text x='100' y='324' fontSize='12' fill='#1A2230' textAnchor='middle'&gt;全局 20 跳&lt;/text&gt;&#10;                &lt;text x='100' y='341' fontSize='12' fill='#1A2230' textAnchor='middle'&gt;每子问题 ⌈20 / n⌉&lt;/text&gt;&#10;&#10;                &lt;text x='350' y='390' fontSize='13' fill='#4A5568' textAnchor='middle'&gt;一跳 = 取 frontier 队首，做一次并行检索&lt;/text&gt;&#10;                &lt;text x='350' y='414' fontSize='13' fill='#4A5568' textAnchor='middle'&gt;visited_sources 去重 + 证据身份去重，避免重复烧 token&lt;/text&gt;&#10;                &lt;text x='350' y='444' fontSize='12' fill='#8B97A8' textAnchor='middle'&gt;可选云端 rerank 默认关闭：先立评测，再决定是否引入&lt;/text&gt;&#10;            &lt;/svg&gt;&#10;        &lt;/Box&gt;&#10;&#10;        {/* 右 · 论述 */}&#10;        &lt;Box style={{ width: '460px', gap: 16 }}&gt;&#10;            &lt;Box style={{ gap: 6 }}&gt;&#10;                &lt;Text style={{ fontSize: 23, fontWeight: 'bold', color: '#0E3F8C' }}&gt;三路并行，而不是一条路走到底&lt;/Text&gt;&#10;                &lt;Text style={{ fontSize: 16, color: '#4A5568', lineHeight: 1.55 }}&gt;&#10;                    网页、学术论文、私有知识库同时召回。任何一路失败都不阻塞其余路径，失败原因会被结构化记录下来。&#10;                &lt;/Text&gt;&#10;            &lt;/Box&gt;&#10;&#10;            &lt;Box style={{ height: '1px', background: '#D6DCE5' }} /&gt;&#10;&#10;            &lt;Box style={{ gap: 6 }}&gt;&#10;                &lt;Text style={{ fontSize: 23, fontWeight: 'bold', color: '#0E3F8C' }}&gt;跳数预算是动态的&lt;/Text&gt;&#10;                &lt;Text style={{ fontSize: 16, color: '#4A5568', lineHeight: 1.55 }}&gt;&#10;                    全局 &lt;span style={{ fontWeight: 'bold' }}&gt;max_total_hops = 20&lt;/span&gt;，按实际子问题数切分为 ⌈20 / n⌉；单个子问题的静态上限只在 n 不可得时兜底。&#10;                &lt;/Text&gt;&#10;            &lt;/Box&gt;&#10;&#10;            &lt;Box style={{ height: '1px', background: '#D6DCE5' }} /&gt;&#10;&#10;            &lt;Box style={{ gap: 6 }}&gt;&#10;                &lt;Text style={{ fontSize: 23, fontWeight: 'bold', color: '#0E3F8C' }}&gt;证据按身份去重&lt;/Text&gt;&#10;                &lt;Text style={{ fontSize: 16, color: '#4A5568', lineHeight: 1.55 }}&gt;&#10;                    RAG 来源按「作用域 + 文档 + 分块」计算身份，网页来源按内容寻址，避免同一份材料被反复计入预算。&#10;                &lt;/Text&gt;&#10;            &lt;/Box&gt;&#10;&#10;            &lt;Box style={{ marginTop: 'auto', background: '#F0F5FC', borderRadius: 8, padding: '14px 18px' }}&gt;&#10;                &lt;Text style={{ fontSize: 16, color: '#1A2230', lineHeight: 1.5 }}&gt;&#10;                    预算显式给定的直接好处：&lt;span style={{ fontWeight: 'bold', color: '#0E3F8C' }}&gt;单轮成本可预估、行为可复现&lt;/span&gt;，跑批时不会突然失控。&#10;                &lt;/Text&gt;&#10;            &lt;/Box&gt;&#10;        &lt;/Box&gt;&#10;    &lt;/Box&gt;&#10;&#10;    &lt;Box style={{ height: '12px' }} /&gt;&#10;&#10;    {/* D · 页脚 */}&#10;    &lt;Box style={{ height: '32px', flexDirection: 'row', alignItems: 'center', justifyContent: 'space-between' }}&gt;&#10;        &lt;Text style={{ fontSize: 14, color: '#8B97A8' }}&gt;DeepResearch 项目汇报 · 2026-10&lt;/Text&gt;&#10;        &lt;Text style={{ fontSize: 14, color: '#1E4FA8' }}&gt;09 / 2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9" name=""/>
          <p:cNvSpPr/>
          <p:nvPr/>
        </p:nvSpPr>
        <p:spPr>
          <a:xfrm rot="0" flipH="0" flipV="0">
            <a:off x="381000" y="228600"/>
            <a:ext cx="11430000" cy="4572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DeepResearch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深度研究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多跳检索与三路证据融合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381000" y="12668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并行召回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融合去重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入证据池，每一步的预算都是显式给定的</a:t>
            </a:r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381000" y="1600200"/>
            <a:ext cx="6858000" cy="4610100"/>
          </a:xfrm>
          <a:prstGeom prst="roundRect">
            <a:avLst>
              <a:gd name="adj" fmla="val 1653"/>
            </a:avLst>
          </a:prstGeom>
          <a:solidFill>
            <a:srgbClr val="F7F9FC"/>
          </a:solidFill>
          <a:ln/>
        </p:spPr>
        <p:txBody>
          <a:bodyPr/>
          <a:p/>
        </p:txBody>
      </p:sp>
      <p:pic>
        <p:nvPicPr>
          <p:cNvPr id="5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6250" y="1695450"/>
            <a:ext cx="6667500" cy="4419600"/>
          </a:xfrm>
          <a:prstGeom prst="rect">
            <a:avLst/>
          </a:prstGeom>
          <a:ln/>
        </p:spPr>
      </p:pic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7429500" y="1600200"/>
            <a:ext cx="4381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三路并行，而不是一条路走到底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7429500" y="1924050"/>
            <a:ext cx="4381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网页、学术论文、私有知识库同时召回。任何一路失败都不阻塞其余路径，失败原因会被结构化记录下来。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7429500" y="2647950"/>
            <a:ext cx="43815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7429500" y="2809875"/>
            <a:ext cx="4381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跳数预算是动态的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7429500" y="3133725"/>
            <a:ext cx="4381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全局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200" b="1">
                <a:solidFill>
                  <a:srgbClr val="4A5568"/>
                </a:solidFill>
                <a:latin typeface="Microsoft YaHei"/>
                <a:ea typeface="Microsoft YaHei"/>
              </a:rPr>
              <a:t>max_total_hops = 20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，按实际子问题数切分为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⌈20 / n⌉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；单个子问题的静态上限只在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n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不可得时兜底。</a:t>
            </a:r>
            <a:endParaRPr/>
          </a:p>
        </p:txBody>
      </p:sp>
      <p:sp>
        <p:nvSpPr>
          <p:cNvPr id="600" name=""/>
          <p:cNvSpPr/>
          <p:nvPr/>
        </p:nvSpPr>
        <p:spPr>
          <a:xfrm rot="0" flipH="0" flipV="0">
            <a:off x="7429500" y="3857625"/>
            <a:ext cx="43815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7429500" y="4019550"/>
            <a:ext cx="43815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证据按身份去重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7429500" y="4343400"/>
            <a:ext cx="4381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RAG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来源按「作用域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文档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分块」计算身份，网页来源按内容寻址，避免同一份材料被反复计入预算。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7429500" y="5391150"/>
            <a:ext cx="4381500" cy="819150"/>
          </a:xfrm>
          <a:prstGeom prst="roundRect">
            <a:avLst>
              <a:gd name="adj" fmla="val 930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7600950" y="5524500"/>
            <a:ext cx="4038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预算显式给定的直接好处：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单轮成本可预估、行为可复现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，跑批时不会突然失控。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DeepResearch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项目汇报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2026-10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09 / 23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9982200" y="3619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02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系统架构与核心设计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7" name="" descr="&lt;Slide style={{ width: '1280px', height: '720px', padding: 0, background: '#0E3F8C', flexDirection: 'row', alignItems: 'center', position: 'relative', overflow: 'hidden' }}&gt;&#10;&#10;    &lt;Box style={{ width: '280px', height: '720px', alignItems: 'center', justifyContent: 'center', gap: 8 }}&gt;&#10;        &lt;Text style={{ fontSize: 150, fontWeight: 'bold', color: '#F0F5FC', opacity: 0.3, lineHeight: 1.0 }}&gt;03&lt;/Text&gt;&#10;        &lt;Text style={{ fontSize: 14, color: '#FFFFFF', opacity: 0.6, letterSpacing: 3 }}&gt;CHAPTER 03&lt;/Text&gt;&#10;    &lt;/Box&gt;&#10;&#10;    &lt;Box style={{ width: '500px', height: '720px', justifyContent: 'center', gap: 18, paddingRight: 40 }}&gt;&#10;        &lt;Text style={{ fontSize: 40, fontWeight: 'bold', color: '#FFFFFF', lineHeight: 1.2 }}&gt;防幻觉与证据链&lt;/Text&gt;&#10;        &lt;Box style={{ width: '64px', height: '3px', background: '#FFFFFF', opacity: 0.5 }} /&gt;&#10;        &lt;Box style={{ gap: 12 }}&gt;&#10;            &lt;Text style={{ fontSize: 17, color: '#FFFFFF', opacity: 0.9 }}&gt;— Validator 图内双层校验：存在性 + 忠实度&lt;/Text&gt;&#10;            &lt;Text style={{ fontSize: 17, color: '#FFFFFF', opacity: 0.9 }}&gt;— 引用溯源四桶：web / rag / arxiv / code&lt;/Text&gt;&#10;            &lt;Text style={{ fontSize: 17, color: '#FFFFFF', opacity: 0.9 }}&gt;— 关键论断需 ≥2 独立来源印证&lt;/Text&gt;&#10;            &lt;Text style={{ fontSize: 17, color: '#FFFFFF', opacity: 0.9 }}&gt;— 证据链：快照 + 逐字引文 + 字符偏移&lt;/Text&gt;&#10;        &lt;/Box&gt;&#10;        &lt;Box style={{ flexDirection: 'row' }}&gt;&#10;            &lt;Box style={{ padding: '7px 14px', border: '1px solid rgba(255,255,255,0.4)', borderRadius: 14 }}&gt;&#10;                &lt;Text style={{ fontSize: 14, color: '#FFFFFF', opacity: 0.85 }}&gt;本章回答：凭什么相信报告里的话&lt;/Text&gt;&#10;            &lt;/Box&gt;&#10;        &lt;/Box&gt;&#10;    &lt;/Box&gt;&#10;&#10;    &lt;Box style={{ width: '1px', height: '440px', background: '#FFFFFF', opacity: 0.18 }} /&gt;&#10;&#10;    &lt;Box style={{ width: '420px', height: '720px', alignItems: 'center', justifyContent: 'center', gap: 12 }}&gt;&#10;        &lt;Image&#10;            src='assets/ui-06-citation.png'&#10;            style={{ width: 368, height: 230, objectFit: 'cover', borderRadius: 12, border: '2px solid rgba(255,255,255,0.35)' }}&#10;        /&gt;&#10;        &lt;Text style={{ fontSize: 12, color: '#FFFFFF', opacity: 0.6 }}&gt;界面实拍 · 引用核查：2/2 严格通过（91% / 86%）&lt;/Text&gt;&#10;        &lt;Box style={{ flexDirection: 'row', gap: 8 }}&gt;&#10;            &lt;Box style={{ padding: '5px 12px', border: '1px solid rgba(255,255,255,0.4)', borderRadius: 12 }}&gt;&#10;                &lt;Text style={{ fontSize: 13, color: '#FFFFFF', opacity: 0.9 }}&gt;双层校验&lt;/Text&gt;&#10;            &lt;/Box&gt;&#10;            &lt;Box style={{ padding: '5px 12px', border: '1px solid rgba(255,255,255,0.4)', borderRadius: 12 }}&gt;&#10;                &lt;Text style={{ fontSize: 13, color: '#FFFFFF', opacity: 0.9 }}&gt;溯源四桶&lt;/Text&gt;&#10;            &lt;/Box&gt;&#10;            &lt;Box style={{ padding: '5px 12px', border: '1px solid rgba(255,255,255,0.4)', borderRadius: 12 }}&gt;&#10;                &lt;Text style={{ fontSize: 13, color: '#FFFFFF', opacity: 0.9 }}&gt;多源印证&lt;/Text&gt;&#10;            &lt;/Box&gt;&#10;        &lt;/Box&gt;&#10;    &lt;/Box&gt;&#10;&#10;    &lt;Box style={{ position: 'absolute', bottom: 28, right: 56 }}&gt;&#10;        &lt;Text style={{ fontSize: 14, color: '#FFFFFF', opacity: 0.6 }}&gt;10 / 2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2667000" y="2162175"/>
            <a:ext cx="43815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防幻觉与证据链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2667000" y="4400550"/>
            <a:ext cx="2266950" cy="295275"/>
          </a:xfrm>
          <a:prstGeom prst="roundRect">
            <a:avLst>
              <a:gd name="adj" fmla="val 45161"/>
            </a:avLst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"/>
          <p:cNvSpPr/>
          <p:nvPr/>
        </p:nvSpPr>
        <p:spPr>
          <a:xfrm rot="0" flipH="0" flipV="0">
            <a:off x="7686675" y="2028825"/>
            <a:ext cx="3505200" cy="219075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2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7686675" y="2028825"/>
            <a:ext cx="3505200" cy="2190750"/>
          </a:xfrm>
          <a:prstGeom prst="roundRect">
            <a:avLst>
              <a:gd name="adj" fmla="val 5217"/>
            </a:avLst>
          </a:prstGeom>
          <a:ln/>
        </p:spPr>
      </p:pic>
      <p:sp>
        <p:nvSpPr>
          <p:cNvPr id="23" name=""/>
          <p:cNvSpPr/>
          <p:nvPr/>
        </p:nvSpPr>
        <p:spPr>
          <a:xfrm rot="0" flipH="0" flipV="0">
            <a:off x="8277225" y="4591050"/>
            <a:ext cx="723900" cy="247650"/>
          </a:xfrm>
          <a:prstGeom prst="roundRect">
            <a:avLst>
              <a:gd name="adj" fmla="val 46154"/>
            </a:avLst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9077325" y="4591050"/>
            <a:ext cx="723900" cy="247650"/>
          </a:xfrm>
          <a:prstGeom prst="roundRect">
            <a:avLst>
              <a:gd name="adj" fmla="val 46154"/>
            </a:avLst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9877425" y="4591050"/>
            <a:ext cx="723900" cy="247650"/>
          </a:xfrm>
          <a:prstGeom prst="roundRect">
            <a:avLst>
              <a:gd name="adj" fmla="val 46154"/>
            </a:avLst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47675" y="2457450"/>
            <a:ext cx="177165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0F5FC">
                    <a:alpha val="30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90575" y="4248150"/>
            <a:ext cx="1095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CHAPTER 03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2667000" y="2886075"/>
            <a:ext cx="609600" cy="2857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2667000" y="3086100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 Validator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图内双层校验：存在性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忠实度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2667000" y="340042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引用溯源四桶：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web / rag / arxiv / code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2667000" y="3714750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关键论断需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≥2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独立来源印证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2667000" y="402907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证据链：快照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逐字引文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字符偏移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2800350" y="44672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本章回答：凭什么相信报告里的话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7429500" y="1333500"/>
            <a:ext cx="9525" cy="419100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134350" y="4333875"/>
            <a:ext cx="2619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界面实拍</a:t>
            </a:r>
            <a:r>
              <a:rPr lang="en-US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引用核查：</a:t>
            </a:r>
            <a:r>
              <a:rPr lang="en-US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2/2 </a:t>
            </a:r>
            <a:r>
              <a:rPr lang="zh-CN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严格通过（</a:t>
            </a:r>
            <a:r>
              <a:rPr lang="en-US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91% / 86%</a:t>
            </a:r>
            <a:r>
              <a:rPr lang="zh-CN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391525" y="46386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双层校验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9191625" y="46386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溯源四桶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9991725" y="46386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多源印证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1201400" y="64293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10 / 23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0" name="" descr="&lt;Slide style={{ width: '1280px', height: '720px', padding: '24px 40px', background: '#FFFFFF' }}&gt;&#10;&#10;    {/* A · 页眉顶条 */}&#10;    &lt;Box style={{ height: '48px', background: '#0E3F8C', borderRadius: 6, flexDirection: 'row', alignItems: 'center', justifyContent: 'space-between', padding: '0 24px' }}&gt;&#10;        &lt;Text style={{ fontSize: 16, color: '#FFFFFF', fontWeight: 'bold' }}&gt;DeepResearch · 深度研究 Agent&lt;/Text&gt;&#10;        &lt;Text style={{ fontSize: 16, color: '#FFFFFF', opacity: 0.85 }}&gt;03 防幻觉与证据链&lt;/Text&gt;&#10;    &lt;/Box&gt;&#10;&#10;    &lt;Box style={{ height: '12px' }} /&gt;&#10;&#10;    {/* B · 标题块 */}&#10;    &lt;Box style={{ height: '72px', justifyContent: 'center', gap: 4 }}&gt;&#10;        &lt;Text style={{ fontSize: 34, fontWeight: 'bold', color: '#1A2230' }}&gt;防幻觉三件套&lt;/Text&gt;&#10;        &lt;Text style={{ fontSize: 16, color: '#4A5568' }}&gt;三道闸各自独立实现，都不依赖「请模型自觉核实」这类提示词&lt;/Text&gt;&#10;    &lt;/Box&gt;&#10;&#10;    &lt;Box style={{ height: '12px' }} /&gt;&#10;&#10;    {/* C · 内容区：共享标题条 + 三卡 + 底部结论条 */}&#10;    &lt;Box style={{ height: '484px', gap: 10 }}&gt;&#10;&#10;        {/* 共享标题条（锚定一） */}&#10;        &lt;Box style={{ height: '40px', background: '#0E3F8C', borderRadius: 6, flexDirection: 'row', alignItems: 'center', gap: 12, padding: '0 20px' }}&gt;&#10;            &lt;Text style={{ fontSize: 18, fontWeight: 'bold', color: '#FFFFFF' }}&gt;校验 · 溯源 · 印证&lt;/Text&gt;&#10;            &lt;Text style={{ fontSize: 15, color: '#FFFFFF', opacity: 0.8 }}&gt;三条路径互不替代：校验管「引用是否站得住」，溯源管「来自哪里」，印证管「有几个来源」&lt;/Text&gt;&#10;        &lt;/Box&gt;&#10;&#10;        {/* 三张卡 */}&#10;        &lt;Box style={{ flex: 1, flexDirection: 'row', gap: 16 }}&gt;&#10;&#10;            &lt;Box style={{ flex: 1, background: '#FFFFFF', border: '1px solid #D6DCE5', borderRadius: 8, padding: '20px 22px', gap: 10 }}&gt;&#10;                &lt;svg width={44} height={44} viewBox='0 0 44 44'&gt;&#10;                    &lt;path d='M22 3 L38 9 L38 22 C38 31 30 37 22 41 C14 37 6 31 6 22 L6 9 Z' fill='#0E3F8C' /&gt;&#10;                    &lt;path d='M14 22 L20 28 L31 16' fill='none' stroke='#FFFFFF' strokeWidth='3' /&gt;&#10;                &lt;/svg&gt;&#10;                &lt;Text style={{ fontSize: 24, fontWeight: 'bold', color: '#0E3F8C' }}&gt;Validator 在图内&lt;/Text&gt;&#10;                &lt;Text style={{ fontSize: 16, color: '#4A5568', lineHeight: 1.55 }}&gt;&#10;                    引用存在性与忠实度双层校验是图里的一个节点，不是事后脚本。不通过的论断&lt;span style={{ fontWeight: 'bold' }}&gt;不删除&lt;/span&gt;，而是进报告附录并标注原因——读者看得见，才判断得出哪里不可信。返工是&lt;span style={{ fontWeight: 'bold' }}&gt;有界&lt;/span&gt;的：repair 至多 1 次。&#10;                &lt;/Text&gt;&#10;                &lt;Box style={{ marginTop: 'auto', padding: '8px 12px', background: '#F0F5FC', borderRadius: 6 }}&gt;&#10;                    &lt;Text style={{ fontSize: 14, color: '#0E3F8C', fontWeight: 'bold' }}&gt;agents/validator.py + repair.py&lt;/Text&gt;&#10;                &lt;/Box&gt;&#10;            &lt;/Box&gt;&#10;&#10;            &lt;Box style={{ flex: 1, background: '#FFFFFF', border: '1px solid #D6DCE5', borderRadius: 8, padding: '20px 22px', gap: 10 }}&gt;&#10;                &lt;svg width={44} height={44} viewBox='0 0 44 44'&gt;&#10;                    &lt;rect x='3' y='3' width='18' height='18' rx='4' fill='#0E3F8C' /&gt;&#10;                    &lt;rect x='23' y='3' width='18' height='18' rx='4' fill='#1E4FA8' /&gt;&#10;                    &lt;rect x='3' y='23' width='18' height='18' rx='4' fill='#3D7BD9' /&gt;&#10;                    &lt;rect x='23' y='23' width='18' height='18' rx='4' fill='#E8EFF8' stroke='#3D7BD9' strokeWidth='2' /&gt;&#10;                &lt;/svg&gt;&#10;                &lt;Text style={{ fontSize: 24, fontWeight: 'bold', color: '#0E3F8C' }}&gt;引用溯源四桶&lt;/Text&gt;&#10;                &lt;Text style={{ fontSize: 16, color: '#4A5568', lineHeight: 1.55 }}&gt;&#10;                    每条引用都标来源类型：web / rag / arxiv / code，报告里可逐条审计。四类可信度&lt;span style={{ fontWeight: 'bold' }}&gt;不混为一谈&lt;/span&gt;——代码执行结果默认不进证据池，因为它「运行成功」不等于「回答了问题」。&#10;                &lt;/Text&gt;&#10;                &lt;Box style={{ marginTop: 'auto', padding: '8px 12px', background: '#F0F5FC', borderRadius: 6 }}&gt;&#10;                    &lt;Text style={{ fontSize: 14, color: '#0E3F8C', fontWeight: 'bold' }}&gt;state.py · Citation.source_type&lt;/Text&gt;&#10;                &lt;/Box&gt;&#10;            &lt;/Box&gt;&#10;&#10;            &lt;Box style={{ flex: 1, background: '#F0F5FC', borderRadius: 8, padding: '20px 22px', gap: 10 }}&gt;&#10;                &lt;svg width={44} height={44} viewBox='0 0 44 44'&gt;&#10;                    &lt;circle cx='16' cy='22' r='13' fill='#0E3F8C' opacity='0.55' /&gt;&#10;                    &lt;circle cx='28' cy='22' r='13' fill='#1E4FA8' opacity='0.55' /&gt;&#10;                    &lt;circle cx='22' cy='22' r='4' fill='#0E3F8C' /&gt;&#10;                &lt;/svg&gt;&#10;                &lt;Text style={{ fontSize: 24, fontWeight: 'bold', color: '#0E3F8C' }}&gt;多源印证&lt;/Text&gt;&#10;                &lt;Text style={{ fontSize: 16, color: '#4A5568', lineHeight: 1.55 }}&gt;&#10;                    关键论断需要 ≥2 个独立来源支撑才判高置信度，置信度在报告中分级呈现。只有单一来源支撑的论断会被&lt;span style={{ fontWeight: 'bold' }}&gt;显式降格&lt;/span&gt;，而不是和双来源论断混在同一段里呈现。&#10;                &lt;/Text&gt;&#10;                &lt;Box style={{ marginTop: 'auto', padding: '8px 12px', background: '#FFFFFF', borderRadius: 6 }}&gt;&#10;                    &lt;Text style={{ fontSize: 14, color: '#0E3F8C', fontWeight: 'bold' }}&gt;validator.py 交叉验证逻辑&lt;/Text&gt;&#10;                &lt;/Box&gt;&#10;            &lt;/Box&gt;&#10;        &lt;/Box&gt;&#10;&#10;        {/* 底部结论条（锚定二） */}&#10;        &lt;Box style={{ height: '52px', background: '#F0F5FC', borderRadius: 8, flexDirection: 'row', alignItems: 'center', padding: '0 22px', gap: 14 }}&gt;&#10;            &lt;Box style={{ width: '4px', height: '30px', background: '#1E4FA8' }} /&gt;&#10;            &lt;Text style={{ fontSize: 17, color: '#1A2230' }}&gt;共同点：三道闸都&lt;span style={{ fontWeight: 'bold', color: '#0E3F8C' }}&gt;有确定性实现、有落盘产物&lt;/span&gt;，所以它们的效果可以被测，而不是只能被相信。&lt;/Text&gt;&#10;        &lt;/Box&gt;&#10;    &lt;/Box&gt;&#10;&#10;    &lt;Box style={{ height: '12px' }} /&gt;&#10;&#10;    {/* D · 页脚 */}&#10;    &lt;Box style={{ height: '32px', flexDirection: 'row', alignItems: 'center', justifyContent: 'space-between' }}&gt;&#10;        &lt;Text style={{ fontSize: 14, color: '#8B97A8' }}&gt;DeepResearch 项目汇报 · 2026-10&lt;/Text&gt;&#10;        &lt;Text style={{ fontSize: 14, color: '#1E4FA8' }}&gt;11 / 2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381000" y="228600"/>
            <a:ext cx="11430000" cy="4572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DeepResearch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深度研究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防幻觉三件套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381000" y="12668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三道闸各自独立实现，都不依赖「请模型自觉核实」这类提示词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381000" y="1600200"/>
            <a:ext cx="11430000" cy="381000"/>
          </a:xfrm>
          <a:prstGeom prst="roundRect">
            <a:avLst>
              <a:gd name="adj" fmla="val 15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71500" y="1685925"/>
            <a:ext cx="1390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校验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溯源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印证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381000" y="2076450"/>
            <a:ext cx="3705225" cy="354330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0550" y="2266950"/>
            <a:ext cx="419100" cy="419100"/>
          </a:xfrm>
          <a:prstGeom prst="rect">
            <a:avLst/>
          </a:prstGeom>
          <a:ln/>
        </p:spPr>
      </p:pic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590550" y="2781300"/>
            <a:ext cx="32861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Validator 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在图内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90550" y="3152775"/>
            <a:ext cx="3286125" cy="1419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引用存在性与忠实度双层校验是图里的一个节点，不是事后脚本。不通过的论断</a:t>
            </a:r>
            <a:r>
              <a:rPr lang="zh-CN" sz="1200" b="1">
                <a:solidFill>
                  <a:srgbClr val="4A5568"/>
                </a:solidFill>
                <a:latin typeface="Microsoft YaHei"/>
                <a:ea typeface="Microsoft YaHei"/>
              </a:rPr>
              <a:t>不删除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，而是进报告附录并标注原因——读者看得见，才判断得出哪里不可信。返工是</a:t>
            </a:r>
            <a:r>
              <a:rPr lang="zh-CN" sz="1200" b="1">
                <a:solidFill>
                  <a:srgbClr val="4A5568"/>
                </a:solidFill>
                <a:latin typeface="Microsoft YaHei"/>
                <a:ea typeface="Microsoft YaHei"/>
              </a:rPr>
              <a:t>有界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的：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repair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至多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1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次。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590550" y="5114925"/>
            <a:ext cx="3286125" cy="314325"/>
          </a:xfrm>
          <a:prstGeom prst="roundRect">
            <a:avLst>
              <a:gd name="adj" fmla="val 1818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04850" y="5191125"/>
            <a:ext cx="3057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agents/validator.py + repair.py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4238625" y="2076450"/>
            <a:ext cx="3714750" cy="354330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448175" y="2266950"/>
            <a:ext cx="419100" cy="419100"/>
          </a:xfrm>
          <a:prstGeom prst="rect">
            <a:avLst/>
          </a:prstGeom>
          <a:ln/>
        </p:spPr>
      </p:pic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448175" y="2781300"/>
            <a:ext cx="3295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引用溯源四桶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4448175" y="3152775"/>
            <a:ext cx="3295650" cy="1143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每条引用都标来源类型：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web / rag / arxiv / code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，报告里可逐条审计。四类可信度</a:t>
            </a:r>
            <a:r>
              <a:rPr lang="zh-CN" sz="1200" b="1">
                <a:solidFill>
                  <a:srgbClr val="4A5568"/>
                </a:solidFill>
                <a:latin typeface="Microsoft YaHei"/>
                <a:ea typeface="Microsoft YaHei"/>
              </a:rPr>
              <a:t>不混为一谈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——代码执行结果默认不进证据池，因为它「运行成功」不等于「回答了问题」。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4448175" y="5114925"/>
            <a:ext cx="3295650" cy="314325"/>
          </a:xfrm>
          <a:prstGeom prst="roundRect">
            <a:avLst>
              <a:gd name="adj" fmla="val 1818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562475" y="5191125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state.py · Citation.source_type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8105775" y="2076450"/>
            <a:ext cx="3705225" cy="3543300"/>
          </a:xfrm>
          <a:prstGeom prst="roundRect">
            <a:avLst>
              <a:gd name="adj" fmla="val 2151"/>
            </a:avLst>
          </a:prstGeom>
          <a:solidFill>
            <a:srgbClr val="F0F5FC"/>
          </a:solidFill>
          <a:ln/>
        </p:spPr>
        <p:txBody>
          <a:bodyPr/>
          <a:p/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15325" y="2266950"/>
            <a:ext cx="419100" cy="419100"/>
          </a:xfrm>
          <a:prstGeom prst="rect">
            <a:avLst/>
          </a:prstGeom>
          <a:ln/>
        </p:spPr>
      </p:pic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315325" y="2781300"/>
            <a:ext cx="32861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多源印证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315325" y="3152775"/>
            <a:ext cx="3286125" cy="1143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关键论断需要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≥2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个独立来源支撑才判高置信度，置信度在报告中分级呈现。只有单一来源支撑的论断会被</a:t>
            </a:r>
            <a:r>
              <a:rPr lang="zh-CN" sz="1200" b="1">
                <a:solidFill>
                  <a:srgbClr val="4A5568"/>
                </a:solidFill>
                <a:latin typeface="Microsoft YaHei"/>
                <a:ea typeface="Microsoft YaHei"/>
              </a:rPr>
              <a:t>显式降格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，而不是和双来源论断混在同一段里呈现。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8315325" y="5114925"/>
            <a:ext cx="3286125" cy="3143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429625" y="5191125"/>
            <a:ext cx="3057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validator.py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交叉验证逻辑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381000" y="5715000"/>
            <a:ext cx="11430000" cy="495300"/>
          </a:xfrm>
          <a:prstGeom prst="roundRect">
            <a:avLst>
              <a:gd name="adj" fmla="val 15385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590550" y="5819775"/>
            <a:ext cx="38100" cy="2857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62000" y="5867400"/>
            <a:ext cx="6800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共同点：三道闸都</a:t>
            </a: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有确定性实现、有落盘产物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，所以它们的效果可以被测，而不是只能被相信。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DeepResearch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项目汇报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2026-10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11 / 23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0287000" y="36195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03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防幻觉与证据链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2076450" y="1704975"/>
            <a:ext cx="600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三条路径互不替代：校验管「引用是否站得住」，溯源管「来自哪里」，印证管「有几个来源」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73" name="" descr="&lt;Slide style={{ width: '1280px', height: '720px', padding: '24px 40px', background: '#FFFFFF' }}&gt;&#10;&#10;    {/* A · 页眉顶条 */}&#10;    &lt;Box style={{ height: '48px', background: '#0E3F8C', borderRadius: 6, flexDirection: 'row', alignItems: 'center', justifyContent: 'space-between', padding: '0 24px' }}&gt;&#10;        &lt;Text style={{ fontSize: 16, color: '#FFFFFF', fontWeight: 'bold' }}&gt;DeepResearch · 深度研究 Agent&lt;/Text&gt;&#10;        &lt;Text style={{ fontSize: 16, color: '#FFFFFF', opacity: 0.85 }}&gt;03 防幻觉与证据链&lt;/Text&gt;&#10;    &lt;/Box&gt;&#10;&#10;    &lt;Box style={{ height: '12px' }} /&gt;&#10;&#10;    {/* B · 标题块 */}&#10;    &lt;Box style={{ height: '72px', justifyContent: 'center', gap: 4 }}&gt;&#10;        &lt;Text style={{ fontSize: 34, fontWeight: 'bold', color: '#1A2230' }}&gt;从「有引用」到「可回溯」&lt;/Text&gt;&#10;        &lt;Text style={{ fontSize: 16, color: '#4A5568' }}&gt;引用不再是一串 URL，而是原文里的一段可复算坐标&lt;/Text&gt;&#10;    &lt;/Box&gt;&#10;&#10;    &lt;Box style={{ height: '12px' }} /&gt;&#10;&#10;    {/* C · 内容区：左大图 56% + 右侧文字 */}&#10;    &lt;Box style={{ height: '484px', flexDirection: 'row', gap: 20 }}&gt;&#10;&#10;        {/* 左 · L1 证据链 */}&#10;        &lt;Box style={{ width: '672px', background: '#F7F9FC', borderRadius: 8, alignItems: 'center', justifyContent: 'center' }}&gt;&#10;            &lt;svg width={640} height={456} viewBox='0 0 640 456'&gt;&#10;                {/* 连接箭头 */}&#10;                &lt;path d='M330 86 L330 118' fill='none' stroke='#3D7BD9' strokeWidth='2' /&gt;&#10;                &lt;path d='M330 194 L330 226' fill='none' stroke='#3D7BD9' strokeWidth='2' /&gt;&#10;                &lt;path d='M330 302 L330 334' fill='none' stroke='#3D7BD9' strokeWidth='2' /&gt;&#10;&#10;                {/* 步骤 1 */}&#10;                &lt;circle cx='52' cy='48' r='26' fill='#0E3F8C' /&gt;&#10;                &lt;text x='52' y='56' fontSize='18' fill='#FFFFFF' textAnchor='middle' fontWeight='bold'&gt;1&lt;/text&gt;&#10;                &lt;rect x='100' y='10' width='470' height='76' rx='8' fill='#FFFFFF' stroke='#3D7BD9' strokeWidth='2' /&gt;&#10;                &lt;text x='120' y='38' fontSize='16' fill='#1A2230' fontWeight='bold'&gt;网页正文落盘为内容寻址快照&lt;/text&gt;&#10;                &lt;text x='120' y='62' fontSize='13' fill='#4A5568'&gt;robots 遵守 + 预算三闸（15 次 / 5 MB / 90 s），失败降级不阻塞主流程&lt;/text&gt;&#10;                &lt;text x='120' y='80' fontSize='13' fill='#4A5568'&gt;快照按内容哈希寻址，同一份材料只存一次&lt;/text&gt;&#10;&#10;                {/* 步骤 2 */}&#10;                &lt;circle cx='52' cy='156' r='26' fill='#0E3F8C' /&gt;&#10;                &lt;text x='52' y='164' fontSize='18' fill='#FFFFFF' textAnchor='middle' fontWeight='bold'&gt;2&lt;/text&gt;&#10;                &lt;rect x='100' y='118' width='470' height='76' rx='8' fill='#FFFFFF' stroke='#3D7BD9' strokeWidth='2' /&gt;&#10;                &lt;text x='120' y='146' fontSize='16' fill='#1A2230' fontWeight='bold'&gt;引用携带逐字引文与字符偏移&lt;/text&gt;&#10;                &lt;text x='120' y='170' fontSize='13' fill='#4A5568'&gt;quote + char_start / char_end + snapshot_id + match_level&lt;/text&gt;&#10;                &lt;text x='120' y='188' fontSize='13' fill='#4A5568'&gt;定位分三级 L0 → L1 → L2，中文 2-gram 滑窗打分消歧&lt;/text&gt;&#10;&#10;                {/* 步骤 3 */}&#10;                &lt;circle cx='52' cy='264' r='26' fill='#1E4FA8' /&gt;&#10;                &lt;text x='52' y='272' fontSize='18' fill='#FFFFFF' textAnchor='middle' fontWeight='bold'&gt;3&lt;/text&gt;&#10;                &lt;rect x='100' y='226' width='470' height='76' rx='8' fill='#FFFFFF' stroke='#3D7BD9' strokeWidth='2' /&gt;&#10;                &lt;text x='120' y='254' fontSize='16' fill='#1A2230' fontWeight='bold'&gt;交付自检（零模型，三项）&lt;/text&gt;&#10;                &lt;text x='120' y='278' fontSize='13' fill='#4A5568'&gt;引文是否可定位 / 是否落在被删或降格段落 / 版本句是否带引用&lt;/text&gt;&#10;                &lt;text x='120' y='296' fontSize='13' fill='#4A5568'&gt;不调用 LLM，用偏移切片复核 —— 结论可离线复算&lt;/text&gt;&#10;&#10;                {/* 步骤 4 */}&#10;                &lt;circle cx='52' cy='372' r='26' fill='#D9534F' /&gt;&#10;                &lt;text x='52' y='380' fontSize='18' fill='#FFFFFF' textAnchor='middle' fontWeight='bold'&gt;4&lt;/text&gt;&#10;                &lt;rect x='100' y='334' width='470' height='76' rx='8' fill='#FFFFFF' stroke='#D9534F' strokeWidth='2' /&gt;&#10;                &lt;text x='120' y='362' fontSize='16' fill='#1A2230' fontWeight='bold'&gt;分级处置：致命 / 可修，只标注不删除&lt;/text&gt;&#10;                &lt;text x='120' y='386' fontSize='13' fill='#4A5568'&gt;未知来源 ID 判致命并阻断；快照缺失、引文过期、裸 URL 判可修&lt;/text&gt;&#10;                &lt;text x='120' y='404' fontSize='13' fill='#4A5568'&gt;红线：UNKNOWN / 缺失 / 过期一律不判为「事实错误」&lt;/text&gt;&#10;&#10;                &lt;text x='330' y='440' fontSize='12' fill='#8B97A8' textAnchor='middle'&gt;整条链路不新增模型的自由裁量权 —— 每一步都能离线复算&lt;/text&gt;&#10;            &lt;/svg&gt;&#10;        &lt;/Box&gt;&#10;&#10;        {/* 右 · 论述 */}&#10;        &lt;Box style={{ width: '508px', gap: 14 }}&gt;&#10;            &lt;Box style={{ gap: 6 }}&gt;&#10;                &lt;Text style={{ fontSize: 23, fontWeight: 'bold', color: '#0E3F8C' }}&gt;原来的问题&lt;/Text&gt;&#10;                &lt;Text style={{ fontSize: 16, color: '#4A5568', lineHeight: 1.55 }}&gt;&#10;                    早期版本每条引用只有标题和 URL。想验证「这句话是否真的出自该网页」，只能人肉打开对照——引用是装饰，不是证据。&#10;                &lt;/Text&gt;&#10;            &lt;/Box&gt;&#10;&#10;            &lt;Box style={{ height: '1px', background: '#D6DCE5' }} /&gt;&#10;&#10;            &lt;Box style={{ gap: 6 }}&gt;&#10;                &lt;Text style={{ fontSize: 23, fontWeight: 'bold', color: '#0E3F8C' }}&gt;现在的形态&lt;/Text&gt;&#10;                &lt;Text style={{ fontSize: 16, color: '#4A5568', lineHeight: 1.55 }}&gt;&#10;                    引用 = 快照 ID + 逐字引文 + 原文字符偏移 + 匹配等级。&lt;span style={{ fontWeight: 'bold' }}&gt;任一读者都能按坐标回到原文复核&lt;/span&gt;，不需要重新跑一遍模型。&#10;                &lt;/Text&gt;&#10;            &lt;/Box&gt;&#10;&#10;            &lt;Box style={{ height: '1px', background: '#D6DCE5' }} /&gt;&#10;&#10;            &lt;Box style={{ gap: 6 }}&gt;&#10;                &lt;Text style={{ fontSize: 23, fontWeight: 'bold', color: '#0E3F8C' }}&gt;自检为什么要零模型&lt;/Text&gt;&#10;                &lt;Text style={{ fontSize: 16, color: '#4A5568', lineHeight: 1.55 }}&gt;&#10;                    用模型检查模型，等于把不可靠性又绕回来。三项自检全部是确定性字符串与偏移运算，随时可重跑、结果必然一致。&#10;                &lt;/Text&gt;&#10;            &lt;/Box&gt;&#10;&#10;            &lt;Box style={{ marginTop: 'auto', background: '#F0F5FC', borderRadius: 8, padding: '14px 18px' }}&gt;&#10;                &lt;Text style={{ fontSize: 16, color: '#1A2230', lineHeight: 1.5 }}&gt;&#10;                    这一步的意义不在指标好看，而在：&lt;span style={{ fontWeight: 'bold', color: '#0E3F8C' }}&gt;报告的每一句话都有了可追责的出处&lt;/span&gt;。&#10;                &lt;/Text&gt;&#10;            &lt;/Box&gt;&#10;        &lt;/Box&gt;&#10;    &lt;/Box&gt;&#10;&#10;    &lt;Box style={{ height: '12px' }} /&gt;&#10;&#10;    {/* D · 页脚 */}&#10;    &lt;Box style={{ height: '32px', flexDirection: 'row', alignItems: 'center', justifyContent: 'space-between' }}&gt;&#10;        &lt;Text style={{ fontSize: 14, color: '#8B97A8' }}&gt;DeepResearch 项目汇报 · 2026-10&lt;/Text&gt;&#10;        &lt;Text style={{ fontSize: 14, color: '#1E4FA8' }}&gt;12 / 2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381000" y="228600"/>
            <a:ext cx="11430000" cy="4572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DeepResearch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深度研究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从「有引用」到「可回溯」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381000" y="12668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引用不再是一串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URL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，而是原文里的一段可复算坐标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381000" y="1600200"/>
            <a:ext cx="6400800" cy="4610100"/>
          </a:xfrm>
          <a:prstGeom prst="roundRect">
            <a:avLst>
              <a:gd name="adj" fmla="val 1653"/>
            </a:avLst>
          </a:prstGeom>
          <a:solidFill>
            <a:srgbClr val="F7F9FC"/>
          </a:solidFill>
          <a:ln/>
        </p:spPr>
        <p:txBody>
          <a:bodyPr/>
          <a:p/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33400" y="1733550"/>
            <a:ext cx="6096000" cy="4343400"/>
          </a:xfrm>
          <a:prstGeom prst="rect">
            <a:avLst/>
          </a:prstGeom>
          <a:ln/>
        </p:spPr>
      </p:pic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972300" y="1600200"/>
            <a:ext cx="48387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原来的问题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972300" y="1924050"/>
            <a:ext cx="48387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早期版本每条引用只有标题和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URL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。想验证「这句话是否真的出自该网页」，只能人肉打开对照——引用是装饰，不是证据。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6972300" y="2628900"/>
            <a:ext cx="48387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972300" y="2771775"/>
            <a:ext cx="48387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现在的形态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972300" y="3095625"/>
            <a:ext cx="48387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引用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=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快照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ID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逐字引文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原文字符偏移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匹配等级。</a:t>
            </a:r>
            <a:r>
              <a:rPr lang="zh-CN" sz="1200" b="1">
                <a:solidFill>
                  <a:srgbClr val="4A5568"/>
                </a:solidFill>
                <a:latin typeface="Microsoft YaHei"/>
                <a:ea typeface="Microsoft YaHei"/>
              </a:rPr>
              <a:t>任一读者都能按坐标回到原文复核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，不需要重新跑一遍模型。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972300" y="3800475"/>
            <a:ext cx="48387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972300" y="3943350"/>
            <a:ext cx="48387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自检为什么要零模型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972300" y="4267200"/>
            <a:ext cx="48387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用模型检查模型，等于把不可靠性又绕回来。三项自检全部是确定性字符串与偏移运算，随时可重跑、结果必然一致。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972300" y="5391150"/>
            <a:ext cx="4838700" cy="819150"/>
          </a:xfrm>
          <a:prstGeom prst="roundRect">
            <a:avLst>
              <a:gd name="adj" fmla="val 930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7143750" y="5524500"/>
            <a:ext cx="4495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这一步的意义不在指标好看，而在：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报告的每一句话都有了可追责的出处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DeepResearch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项目汇报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2026-10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12 / 23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0287000" y="36195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03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防幻觉与证据链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94" name="" descr="&lt;Slide style={{ width: '1280px', height: '720px', padding: 0, background: '#0E3F8C', flexDirection: 'row', alignItems: 'center', position: 'relative', overflow: 'hidden' }}&gt;&#10;&#10;    &lt;Box style={{ width: '280px', height: '720px', alignItems: 'center', justifyContent: 'center', gap: 8 }}&gt;&#10;        &lt;Text style={{ fontSize: 150, fontWeight: 'bold', color: '#F0F5FC', opacity: 0.3, lineHeight: 1.0 }}&gt;04&lt;/Text&gt;&#10;        &lt;Text style={{ fontSize: 14, color: '#FFFFFF', opacity: 0.6, letterSpacing: 3 }}&gt;CHAPTER 04&lt;/Text&gt;&#10;    &lt;/Box&gt;&#10;&#10;    &lt;Box style={{ width: '500px', height: '720px', justifyContent: 'center', gap: 18, paddingRight: 40 }}&gt;&#10;        &lt;Text style={{ fontSize: 40, fontWeight: 'bold', color: '#FFFFFF', lineHeight: 1.2 }}&gt;评测方法与实验结果&lt;/Text&gt;&#10;        &lt;Box style={{ width: '64px', height: '3px', background: '#FFFFFF', opacity: 0.5 }} /&gt;&#10;        &lt;Box style={{ gap: 12 }}&gt;&#10;            &lt;Text style={{ fontSize: 17, color: '#FFFFFF', opacity: 0.9 }}&gt;— 两阶段管道：跑图与评估解耦，可零成本复算&lt;/Text&gt;&#10;            &lt;Text style={{ fontSize: 17, color: '#FFFFFF', opacity: 0.9 }}&gt;— 20 题 × 3 轮配对对照，七指标 + ±stderr&lt;/Text&gt;&#10;            &lt;Text style={{ fontSize: 17, color: '#FFFFFF', opacity: 0.9 }}&gt;— 四指标全部不可判定：噪声大于效应&lt;/Text&gt;&#10;            &lt;Text style={{ fontSize: 17, color: '#FFFFFF', opacity: 0.9 }}&gt;— 换口径：八项零噪声确定性断言验收&lt;/Text&gt;&#10;        &lt;/Box&gt;&#10;        &lt;Box style={{ flexDirection: 'row' }}&gt;&#10;            &lt;Box style={{ padding: '7px 14px', border: '1px solid rgba(255,255,255,0.4)', borderRadius: 14 }}&gt;&#10;                &lt;Text style={{ fontSize: 14, color: '#FFFFFF', opacity: 0.85 }}&gt;本章回答：效果怎么测、测出了什么&lt;/Text&gt;&#10;            &lt;/Box&gt;&#10;        &lt;/Box&gt;&#10;    &lt;/Box&gt;&#10;&#10;    &lt;Box style={{ width: '1px', height: '440px', background: '#FFFFFF', opacity: 0.18 }} /&gt;&#10;&#10;    &lt;Box style={{ width: '420px', height: '720px', alignItems: 'center', justifyContent: 'center', gap: 12 }}&gt;&#10;        &lt;Image&#10;            src='assets/trace-jaeger.png'&#10;            style={{ width: 368, height: 230, objectFit: 'cover', borderRadius: 12, border: '2px solid rgba(255,255,255,0.35)' }}&#10;        /&gt;&#10;        &lt;Text style={{ fontSize: 12, color: '#FFFFFF', opacity: 0.6 }}&gt;真实运行 trace：86 spans / 15m29s，R1–R6 逐跳&lt;/Text&gt;&#10;        &lt;Box style={{ flexDirection: 'row', gap: 8 }}&gt;&#10;            &lt;Box style={{ padding: '5px 12px', border: '1px solid rgba(255,255,255,0.4)', borderRadius: 12 }}&gt;&#10;                &lt;Text style={{ fontSize: 13, color: '#FFFFFF', opacity: 0.9 }}&gt;20 题 × 3 轮&lt;/Text&gt;&#10;            &lt;/Box&gt;&#10;            &lt;Box style={{ padding: '5px 12px', border: '1px solid rgba(255,255,255,0.4)', borderRadius: 12 }}&gt;&#10;                &lt;Text style={{ fontSize: 13, color: '#FFFFFF', opacity: 0.9 }}&gt;七指标&lt;/Text&gt;&#10;            &lt;/Box&gt;&#10;            &lt;Box style={{ padding: '5px 12px', border: '1px solid rgba(255,255,255,0.4)', borderRadius: 12 }}&gt;&#10;                &lt;Text style={{ fontSize: 13, color: '#FFFFFF', opacity: 0.9 }}&gt;±stderr&lt;/Text&gt;&#10;            &lt;/Box&gt;&#10;        &lt;/Box&gt;&#10;    &lt;/Box&gt;&#10;&#10;    &lt;Box style={{ position: 'absolute', bottom: 28, right: 56 }}&gt;&#10;        &lt;Text style={{ fontSize: 14, color: '#FFFFFF', opacity: 0.6 }}&gt;13 / 2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2667000" y="2162175"/>
            <a:ext cx="43815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评测方法与实验结果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2667000" y="4400550"/>
            <a:ext cx="2400300" cy="295275"/>
          </a:xfrm>
          <a:prstGeom prst="roundRect">
            <a:avLst>
              <a:gd name="adj" fmla="val 45161"/>
            </a:avLst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7686675" y="2028825"/>
            <a:ext cx="3505200" cy="219075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99" name=""/>
          <p:cNvPicPr>
            <a:picLocks noChangeAspect="1"/>
          </p:cNvPicPr>
          <p:nvPr/>
        </p:nvPicPr>
        <p:blipFill>
          <a:blip r:embed="rId1"/>
          <a:srcRect l="0" t="4545" r="0" b="4545"/>
          <a:stretch>
            <a:fillRect/>
          </a:stretch>
        </p:blipFill>
        <p:spPr>
          <a:xfrm rot="0" flipH="0" flipV="0">
            <a:off x="7686675" y="2028825"/>
            <a:ext cx="3505200" cy="2190750"/>
          </a:xfrm>
          <a:prstGeom prst="roundRect">
            <a:avLst>
              <a:gd name="adj" fmla="val 5217"/>
            </a:avLst>
          </a:prstGeom>
          <a:ln/>
        </p:spPr>
      </p:pic>
      <p:sp>
        <p:nvSpPr>
          <p:cNvPr id="100" name=""/>
          <p:cNvSpPr/>
          <p:nvPr/>
        </p:nvSpPr>
        <p:spPr>
          <a:xfrm rot="0" flipH="0" flipV="0">
            <a:off x="8267700" y="4591050"/>
            <a:ext cx="933450" cy="247650"/>
          </a:xfrm>
          <a:prstGeom prst="roundRect">
            <a:avLst>
              <a:gd name="adj" fmla="val 46154"/>
            </a:avLst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9277350" y="4591050"/>
            <a:ext cx="600075" cy="247650"/>
          </a:xfrm>
          <a:prstGeom prst="roundRect">
            <a:avLst>
              <a:gd name="adj" fmla="val 46154"/>
            </a:avLst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9953625" y="4591050"/>
            <a:ext cx="666750" cy="247650"/>
          </a:xfrm>
          <a:prstGeom prst="roundRect">
            <a:avLst>
              <a:gd name="adj" fmla="val 46154"/>
            </a:avLst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447675" y="2457450"/>
            <a:ext cx="177165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0F5FC">
                    <a:alpha val="30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90575" y="4248150"/>
            <a:ext cx="1095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CHAPTER 04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2667000" y="2886075"/>
            <a:ext cx="609600" cy="2857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2667000" y="3086100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两阶段管道：跑图与评估解耦，可零成本复算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2667000" y="340042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 20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题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× 3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轮配对对照，七指标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+ ±stderr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2667000" y="3714750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四指标全部不可判定：噪声大于效应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2667000" y="402907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换口径：八项零噪声确定性断言验收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2800350" y="446722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本章回答：效果怎么测、测出了什么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7429500" y="1333500"/>
            <a:ext cx="9525" cy="419100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124825" y="4333875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真实运行</a:t>
            </a:r>
            <a:r>
              <a:rPr lang="en-US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 trace</a:t>
            </a:r>
            <a:r>
              <a:rPr lang="zh-CN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：</a:t>
            </a:r>
            <a:r>
              <a:rPr lang="en-US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86 spans / 15m29s</a:t>
            </a:r>
            <a:r>
              <a:rPr lang="zh-CN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，</a:t>
            </a:r>
            <a:r>
              <a:rPr lang="en-US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R1–R6 </a:t>
            </a:r>
            <a:r>
              <a:rPr lang="zh-CN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逐跳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382000" y="4638675"/>
            <a:ext cx="704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20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题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× 3 </a:t>
            </a: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轮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9391650" y="46386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七指标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0067925" y="4638675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±stderr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1201400" y="64293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13 / 23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7" name="" descr="&lt;Slide style={{ width: '1280px', height: '720px', padding: '24px 40px', background: '#FFFFFF' }}&gt;&#10;&#10;    {/* A · 页眉顶条 */}&#10;    &lt;Box style={{ height: '48px', background: '#0E3F8C', borderRadius: 6, flexDirection: 'row', alignItems: 'center', justifyContent: 'space-between', padding: '0 24px' }}&gt;&#10;        &lt;Text style={{ fontSize: 16, color: '#FFFFFF', fontWeight: 'bold' }}&gt;DeepResearch · 深度研究 Agent&lt;/Text&gt;&#10;        &lt;Text style={{ fontSize: 16, color: '#FFFFFF', opacity: 0.85 }}&gt;04 评测方法与实验结果&lt;/Text&gt;&#10;    &lt;/Box&gt;&#10;&#10;    &lt;Box style={{ height: '12px' }} /&gt;&#10;&#10;    {/* B · 标题块 */}&#10;    &lt;Box style={{ height: '72px', justifyContent: 'center', gap: 4 }}&gt;&#10;        &lt;Text style={{ fontSize: 34, fontWeight: 'bold', color: '#1A2230' }}&gt;评测体系：运行与评估解耦的两阶段管道&lt;/Text&gt;&#10;        &lt;Text style={{ fontSize: 16, color: '#4A5568' }}&gt;跑一次要 48~51 分钟且烧钱，所以「跑图」和「算指标」必须能分开重放&lt;/Text&gt;&#10;    &lt;/Box&gt;&#10;&#10;    &lt;Box style={{ height: '12px' }} /&gt;&#10;&#10;    {/* C · 内容区：左标题栏 + 右内容（28:72） */}&#10;    &lt;Box style={{ height: '484px', flexDirection: 'row', gap: 20 }}&gt;&#10;&#10;        {/* 左 · 标题栏 */}&#10;        &lt;Box style={{ width: '340px', background: '#E8EFF8', borderRadius: 8, padding: '26px 24px', gap: 12 }}&gt;&#10;            &lt;Box style={{ width: '4px', height: '36px', background: '#0E3F8C' }} /&gt;&#10;            &lt;Text style={{ fontSize: 24, fontWeight: 'bold', color: '#0E3F8C' }}&gt;为什么要解耦&lt;/Text&gt;&#10;            &lt;Text style={{ fontSize: 17, color: '#1A2230', lineHeight: 1.6 }}&gt;&#10;                一次完整评测约 48~51 分钟、¥0.79~0.92。如果评估逻辑和跑图绑在一起，换一个裁判模型就要把整批重跑一遍。&#10;            &lt;/Text&gt;&#10;            &lt;Text style={{ fontSize: 16, color: '#4A5568', lineHeight: 1.6 }}&gt;&#10;                拆开之后，raw 是「零成本复算」的证据源：调指标、换裁判都只重跑 Phase 2。&#10;            &lt;/Text&gt;&#10;            &lt;Box style={{ marginTop: 'auto', gap: 8 }}&gt;&#10;                &lt;Box style={{ padding: '8px 12px', background: '#FFFFFF', borderRadius: 6 }}&gt;&#10;                    &lt;Text style={{ fontSize: 14, color: '#0E3F8C', fontWeight: 'bold' }}&gt;raw = 取证对象&lt;/Text&gt;&#10;                &lt;/Box&gt;&#10;                &lt;Text style={{ fontSize: 13, color: '#8B97A8' }}&gt;历史产物一律不回填，否则会抹掉「这批数产生于旧口径」的事实&lt;/Text&gt;&#10;            &lt;/Box&gt;&#10;        &lt;/Box&gt;&#10;&#10;        {/* 右 · 管道图 + 三段说明 */}&#10;        &lt;Box style={{ width: '840px', gap: 12 }}&gt;&#10;            &lt;Box style={{ height: '140px', background: '#F7F9FC', borderRadius: 8, alignItems: 'center', justifyContent: 'center' }}&gt;&#10;                &lt;svg width={800} height={132} viewBox='0 0 800 132'&gt;&#10;                    &lt;path d='M260 66 L288 66' fill='none' stroke='#3D7BD9' strokeWidth='2' /&gt;&#10;                    &lt;path d='M492 66 L520 66' fill='none' stroke='#3D7BD9' strokeWidth='2' /&gt;&#10;&#10;                    &lt;rect x='8' y='30' width='252' height='72' rx='8' fill='#0E3F8C' /&gt;&#10;                    &lt;text x='134' y='56' fontSize='15' fill='#FFFFFF' textAnchor='middle' fontWeight='bold'&gt;Phase 1 · 运行&lt;/text&gt;&#10;                    &lt;text x='134' y='78' fontSize='12' fill='#F0F5FC' textAnchor='middle'&gt;20 题跑图，产出原文&lt;/text&gt;&#10;                    &lt;text x='134' y='94' fontSize='12' fill='#F0F5FC' textAnchor='middle'&gt;results/*/raw/*.raw.json&lt;/text&gt;&#10;&#10;                    &lt;rect x='290' y='40' width='202' height='52' rx='8' fill='#FFFFFF' stroke='#3D7BD9' strokeWidth='2' /&gt;&#10;                    &lt;text x='391' y='62' fontSize='14' fill='#1A2230' textAnchor='middle' fontWeight='bold'&gt;raw 原文产出&lt;/text&gt;&#10;                    &lt;text x='391' y='82' fontSize='12' fill='#4A5568' textAnchor='middle'&gt;零成本复算的证据源&lt;/text&gt;&#10;&#10;                    &lt;rect x='522' y='30' width='270' height='72' rx='8' fill='#1E4FA8' /&gt;&#10;                    &lt;text x='657' y='56' fontSize='15' fill='#FFFFFF' textAnchor='middle' fontWeight='bold'&gt;Phase 2 · 评估&lt;/text&gt;&#10;                    &lt;text x='657' y='78' fontSize='12' fill='#F0F5FC' textAnchor='middle'&gt;读 raw 算七指标，不重跑图&lt;/text&gt;&#10;                    &lt;text x='657' y='94' fontSize='12' fill='#F0F5FC' textAnchor='middle'&gt;eval/*.eval.json + verdict&lt;/text&gt;&#10;&#10;                    &lt;text x='400' y='122' fontSize='12' fill='#8B97A8' textAnchor='middle'&gt;换裁判 / 调评测器 → 只重跑右侧；改图 → 才需要重跑左侧&lt;/text&gt;&#10;                &lt;/svg&gt;&#10;            &lt;/Box&gt;&#10;&#10;            &lt;Box style={{ flex: 1, flexDirection: 'row', alignItems: 'center', gap: 16, padding: '14px 20px', background: '#FFFFFF', border: '1px solid #D6DCE5', borderRadius: 8 }}&gt;&#10;                &lt;Box style={{ width: '34px', height: '34px', background: '#E8EFF8', borderRadius: 8, alignItems: 'center', justifyContent: 'center' }}&gt;&#10;                    &lt;Text style={{ fontSize: 18, fontWeight: 'bold', color: '#0E3F8C' }}&gt;1&lt;/Text&gt;&#10;                &lt;/Box&gt;&#10;                &lt;Box style={{ flex: 1, gap: 3 }}&gt;&#10;                    &lt;Text style={{ fontSize: 20, fontWeight: 'bold', color: '#1A2230' }}&gt;七指标聚合 + 质量闸&lt;/Text&gt;&#10;                    &lt;Text style={{ fontSize: 15, color: '#4A5568' }}&gt;每轮落 verdict / verdict_reasons / ±stderr；阈值外置，只告警不阻断，不会因为指标难看就假装没跑&lt;/Text&gt;&#10;                &lt;/Box&gt;&#10;            &lt;/Box&gt;&#10;&#10;            &lt;Box style={{ flex: 1, flexDirection: 'row', alignItems: 'center', gap: 16, padding: '14px 20px', background: '#FFFFFF', border: '1px solid #D6DCE5', borderRadius: 8 }}&gt;&#10;                &lt;Box style={{ width: '34px', height: '34px', background: '#E8EFF8', borderRadius: 8, alignItems: 'center', justifyContent: 'center' }}&gt;&#10;                    &lt;Text style={{ fontSize: 18, fontWeight: 'bold', color: '#0E3F8C' }}&gt;2&lt;/Text&gt;&#10;                &lt;/Box&gt;&#10;                &lt;Box style={{ flex: 1, gap: 3 }}&gt;&#10;                    &lt;Text style={{ fontSize: 20, fontWeight: 'bold', color: '#1A2230' }}&gt;独立引用裁判&lt;/Text&gt;&#10;                    &lt;Text style={{ fontSize: 15, color: '#4A5568' }}&gt;temperature=0 + schema 约束，no_verdict 不计通过；裁判与主链路解耦，避免「自己给自己打分」&lt;/Text&gt;&#10;                &lt;/Box&gt;&#10;            &lt;/Box&gt;&#10;&#10;            &lt;Box style={{ flex: 1, flexDirection: 'row', alignItems: 'center', gap: 16, padding: '14px 20px', background: '#F0F5FC', borderRadius: 8 }}&gt;&#10;                &lt;Box style={{ width: '34px', height: '34px', background: '#FFFFFF', borderRadius: 8, alignItems: 'center', justifyContent: 'center' }}&gt;&#10;                    &lt;Text style={{ fontSize: 18, fontWeight: 'bold', color: '#0E3F8C' }}&gt;3&lt;/Text&gt;&#10;                &lt;/Box&gt;&#10;                &lt;Box style={{ flex: 1, gap: 3 }}&gt;&#10;                    &lt;Text style={{ fontSize: 20, fontWeight: 'bold', color: '#1A2230' }}&gt;可复现元数据&lt;/Text&gt;&#10;                    &lt;Text style={{ fontSize: 15, color: '#4A5568' }}&gt;配置快照、五个主链路开关生效值、prompt_hash、scorer_version、git 修订随每轮落盘&lt;/Text&gt;&#10;                &lt;/Box&gt;&#10;            &lt;/Box&gt;&#10;        &lt;/Box&gt;&#10;    &lt;/Box&gt;&#10;&#10;    &lt;Box style={{ height: '12px' }} /&gt;&#10;&#10;    {/* D · 页脚 */}&#10;    &lt;Box style={{ height: '32px', flexDirection: 'row', alignItems: 'center', justifyContent: 'space-between' }}&gt;&#10;        &lt;Text style={{ fontSize: 14, color: '#8B97A8' }}&gt;DeepResearch 项目汇报 · 2026-10&lt;/Text&gt;&#10;        &lt;Text style={{ fontSize: 14, color: '#1E4FA8' }}&gt;14 / 2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381000" y="228600"/>
            <a:ext cx="11430000" cy="4572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DeepResearch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深度研究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评测体系：运行与评估解耦的两阶段管道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381000" y="12668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跑一次要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48~51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分钟且烧钱，所以「跑图」和「算指标」必须能分开重放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381000" y="1600200"/>
            <a:ext cx="3238500" cy="4610100"/>
          </a:xfrm>
          <a:prstGeom prst="roundRect">
            <a:avLst>
              <a:gd name="adj" fmla="val 2353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609600" y="1847850"/>
            <a:ext cx="38100" cy="3429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09600" y="2305050"/>
            <a:ext cx="2781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为什么要解耦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09600" y="2695575"/>
            <a:ext cx="2781300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一次完整评测约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48~51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分钟、¥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0.79~0.92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。如果评估逻辑和跑图绑在一起，换一个裁判模型就要把整批重跑一遍。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09600" y="4057650"/>
            <a:ext cx="27813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拆开之后，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raw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是「零成本复算」的证据源：调指标、换裁判都只重跑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Phase 2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09600" y="5267325"/>
            <a:ext cx="2781300" cy="3143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23900" y="5343525"/>
            <a:ext cx="2552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raw =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取证对象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09600" y="5657850"/>
            <a:ext cx="27813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历史产物一律不回填，否则会抹掉「这批数产生于旧口径」的事实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3810000" y="1600200"/>
            <a:ext cx="8001000" cy="133350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/>
        </p:spPr>
        <p:txBody>
          <a:bodyPr/>
          <a:p/>
        </p:txBody>
      </p:sp>
      <p:pic>
        <p:nvPicPr>
          <p:cNvPr id="1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00500" y="1638300"/>
            <a:ext cx="7620000" cy="1257300"/>
          </a:xfrm>
          <a:prstGeom prst="rect">
            <a:avLst/>
          </a:prstGeom>
          <a:ln/>
        </p:spPr>
      </p:pic>
      <p:sp>
        <p:nvSpPr>
          <p:cNvPr id="133" name=""/>
          <p:cNvSpPr/>
          <p:nvPr/>
        </p:nvSpPr>
        <p:spPr>
          <a:xfrm rot="0" flipH="0" flipV="0">
            <a:off x="3810000" y="3048000"/>
            <a:ext cx="8001000" cy="981075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4000500" y="33813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105275" y="343852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4476750" y="3324225"/>
            <a:ext cx="7143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七指标聚合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质量闸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476750" y="3581400"/>
            <a:ext cx="7143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每轮落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verdict / verdict_reasons / ±stderr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；阈值外置，只告警不阻断，不会因为指标难看就假装没跑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3810000" y="4143375"/>
            <a:ext cx="80010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4000500" y="44672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105275" y="45243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476750" y="4419600"/>
            <a:ext cx="7143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独立引用裁判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476750" y="4676775"/>
            <a:ext cx="7143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temperature=0 + schema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约束，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no_verdict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不计通过；裁判与主链路解耦，避免「自己给自己打分」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3810000" y="5229225"/>
            <a:ext cx="8001000" cy="981075"/>
          </a:xfrm>
          <a:prstGeom prst="roundRect">
            <a:avLst>
              <a:gd name="adj" fmla="val 776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4000500" y="55626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105275" y="56197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4476750" y="5505450"/>
            <a:ext cx="7143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可复现元数据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476750" y="5762625"/>
            <a:ext cx="7143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配置快照、五个主链路开关生效值、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prompt_hash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scorer_version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git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修订随每轮落盘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DeepResearch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项目汇报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2026-10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14 / 23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9982200" y="3619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04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评测方法与实验结果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51" name="" descr="&lt;Slide style={{ width: '1280px', height: '720px', padding: '24px 40px', background: '#FFFFFF' }}&gt;&#10;&#10;    {/* A · 页眉顶条 */}&#10;    &lt;Box style={{ height: '48px', background: '#0E3F8C', borderRadius: 6, flexDirection: 'row', alignItems: 'center', justifyContent: 'space-between', padding: '0 24px' }}&gt;&#10;        &lt;Text style={{ fontSize: 16, color: '#FFFFFF', fontWeight: 'bold' }}&gt;DeepResearch · 深度研究 Agent&lt;/Text&gt;&#10;        &lt;Text style={{ fontSize: 16, color: '#FFFFFF', opacity: 0.85 }}&gt;04 评测方法与实验结果&lt;/Text&gt;&#10;    &lt;/Box&gt;&#10;&#10;    &lt;Box style={{ height: '12px' }} /&gt;&#10;&#10;    {/* B · 标题块 */}&#10;    &lt;Box style={{ height: '72px', justifyContent: 'center', gap: 4 }}&gt;&#10;        &lt;Text style={{ fontSize: 34, fontWeight: 'bold', color: '#1A2230' }}&gt;对照实验：四指标全部不可判定&lt;/Text&gt;&#10;        &lt;Text style={{ fontSize: 16, color: '#4A5568' }}&gt;20 题 × 3 轮同题配对，before（09-16）vs after（09-19），冻结代码 f723c2d&lt;/Text&gt;&#10;    &lt;/Box&gt;&#10;&#10;    &lt;Box style={{ height: '12px' }} /&gt;&#10;&#10;    {/* C · 内容区：非对称双栏（左表 62% + 右洞察 38%） */}&#10;    &lt;Box style={{ height: '484px', gap: 12 }}&gt;&#10;        &lt;Box style={{ flex: 1, flexDirection: 'row', gap: 20 }}&gt;&#10;&#10;            {/* 左 · 对照表 */}&#10;            &lt;Box style={{ width: '744px', gap: 10 }}&gt;&#10;                &lt;Box style={{ height: '30px', flexDirection: 'row', alignItems: 'center', gap: 10 }}&gt;&#10;                    &lt;Box style={{ padding: '4px 12px', background: '#E8EFF8', borderRadius: 10 }}&gt;&#10;                        &lt;Text style={{ fontSize: 14, fontWeight: 'bold', color: '#0E3F8C' }}&gt;Q&lt;/Text&gt;&#10;                    &lt;/Box&gt;&#10;                    &lt;Text style={{ fontSize: 17, color: '#1A2230', fontWeight: 'bold' }}&gt;改完之后，平均质量到底变好了还是变差了？&lt;/Text&gt;&#10;                &lt;/Box&gt;&#10;&#10;                &lt;Box style={{ flex: 1 }}&gt;&#10;                    &lt;Table&#10;                        style={{ width: '100%', height: '100%' }}&#10;                        defaultTextStyle={{ fontSize: 17, textAlign: 'center', color: '#1A2230' }}&#10;                        defaultCellStyle={{&#10;                            border: {&#10;                                left: { width: 1, color: '#D6DCE5' },&#10;                                right: { width: 1, color: '#D6DCE5' },&#10;                                top: { width: 1, color: '#D6DCE5' },&#10;                                bottom: { width: 1, color: '#D6DCE5' },&#10;                            },&#10;                        }}&#10;                        cells={[&#10;                            [&#10;                                { text: '指标', textStyle: { bold: true, color: '#FFFFFF', fontSize: 17 }, cellStyle: { background: { color: '#0E3F8C' } } },&#10;                                { text: 'before', textStyle: { bold: true, color: '#FFFFFF', fontSize: 17 }, cellStyle: { background: { color: '#0E3F8C' } } },&#10;                                { text: 'after', textStyle: { bold: true, color: '#FFFFFF', fontSize: 17 }, cellStyle: { background: { color: '#0E3F8C' } } },&#10;                                { text: 'Δ', textStyle: { bold: true, color: '#FFFFFF', fontSize: 17 }, cellStyle: { background: { color: '#0E3F8C' } } },&#10;                                { text: 'MDE', textStyle: { bold: true, color: '#FFFFFF', fontSize: 17 }, cellStyle: { background: { color: '#0E3F8C' } } },&#10;                                { text: '判定', textStyle: { bold: true, color: '#FFFFFF', fontSize: 17 }, cellStyle: { background: { color: '#0E3F8C' } } },&#10;                            ],&#10;                            [&#10;                                { text: 'coverage', textStyle: { bold: true }, cellStyle: { background: { color: '#F7F9FC' } } },&#10;                                { text: '44.9%', cellStyle: { background: { color: '#F7F9FC' } } },&#10;                                { text: '39.8%', cellStyle: { background: { color: '#F7F9FC' } } },&#10;                                { text: '−5.1pp', textStyle: { color: '#D9534F', bold: true }, cellStyle: { background: { color: '#F7F9FC' } } },&#10;                                { text: '10.66', cellStyle: { background: { color: '#F7F9FC' } } },&#10;                                { text: '不可判定', textStyle: { color: '#D9534F', bold: true }, cellStyle: { background: { color: '#F7F9FC' } } },&#10;                            ],&#10;                            [&#10;                                'citation_accuracy',&#10;                                '75.2%',&#10;                                '78.3%',&#10;                                { text: '+3.1pp', textStyle: { color: '#0E3F8C', bold: true } },&#10;                                '9.21',&#10;                                { text: '不可判定', textStyle: { color: '#D9534F', bold: true } },&#10;                            ],&#10;                            [&#10;                                { text: 'retrieval_hit_rate', cellStyle: { background: { color: '#F7F9FC' } } },&#10;                                { text: '55.2%', cellStyle: { background: { color: '#F7F9FC' } } },&#10;                                { text: '52.7%', cellStyle: { background: { color: '#F7F9FC' } } },&#10;                                { text: '−2.5pp', textStyle: { color: '#D9534F', bold: true }, cellStyle: { background: { color: '#F7F9FC' } } },&#10;                                { text: '3.88', cellStyle: { background: { color: '#F7F9FC' } } },&#10;                                { text: '不可判定', textStyle: { color: '#D9534F', bold: true }, cellStyle: { background: { color: '#F7F9FC' } } },&#10;                            ],&#10;                            [&#10;                                'steps',&#10;                                '9.4',&#10;                                '8.2',&#10;                                { text: '−1.2', textStyle: { color: '#0E3F8C', bold: true } },&#10;                                '1.36',&#10;                                { text: '不可判定', textStyle: { color: '#D9534F', bold: true } },&#10;                            ],&#10;                        ]}&#10;                    /&gt;&#10;                &lt;/Box&gt;&#10;&#10;                &lt;Text style={{ fontSize: 13, color: '#8B97A8' }}&gt;MDE = 最小可检出效应（3 轮 vs 3 轮）；|Δ| 小于 MDE 即分辨不出差异是否由改动引起&lt;/Text&gt;&#10;            &lt;/Box&gt;&#10;&#10;            {/* 右 · 洞察 */}&#10;            &lt;Box style={{ width: '436px', gap: 12 }}&gt;&#10;                &lt;Text style={{ fontSize: 23, fontWeight: 'bold', color: '#0E3F8C' }}&gt;为什么判不动&lt;/Text&gt;&#10;&#10;                &lt;Box style={{ gap: 5 }}&gt;&#10;                    &lt;Text style={{ fontSize: 17, fontWeight: 'bold', color: '#1A2230' }}&gt;噪声比效应大&lt;/Text&gt;&#10;                    &lt;Text style={{ fontSize: 15, color: '#4A5568', lineHeight: 1.55 }}&gt;coverage 的 run 内噪声 σ≈24pp，MDE 高达 10.66pp，而预期效应只有 4~10pp——尺子比被测的东西还粗。&lt;/Text&gt;&#10;                &lt;/Box&gt;&#10;&#10;                &lt;Box style={{ height: '1px', background: '#D6DCE5' }} /&gt;&#10;&#10;                &lt;Box style={{ gap: 5 }}&gt;&#10;                    &lt;Text style={{ fontSize: 17, fontWeight: 'bold', color: '#1A2230' }}&gt;before 基线不可重采&lt;/Text&gt;&#10;                    &lt;Text style={{ fontSize: 15, color: '#4A5568', lineHeight: 1.55 }}&gt;代码已改，before 侧的 3 轮永远固定；单独加 after 轮次最多把 MDE 再降 14%，跑到 9 轮仍判不动。&lt;/Text&gt;&#10;                &lt;/Box&gt;&#10;&#10;                &lt;Box style={{ height: '1px', background: '#D6DCE5' }} /&gt;&#10;&#10;                &lt;Box style={{ gap: 5 }}&gt;&#10;                    &lt;Text style={{ fontSize: 17, fontWeight: 'bold', color: '#1A2230' }}&gt;steps 的下降要单独归因&lt;/Text&gt;&#10;                    &lt;Text style={{ fontSize: 15, color: '#4A5568', lineHeight: 1.55 }}&gt;它来自一次功能性修复（旧模板引号叠加导致必现 SyntaxError），不是质量提升的证据。&lt;/Text&gt;&#10;                &lt;/Box&gt;&#10;&#10;                &lt;Box style={{ marginTop: 'auto', background: '#F0F5FC', borderRadius: 8, padding: '14px 16px' }}&gt;&#10;                    &lt;Text style={{ fontSize: 15, color: '#1A2230', lineHeight: 1.5 }}&gt;&#10;                        结论：以 3 轮结案，&lt;span style={{ fontWeight: 'bold', color: '#0E3F8C' }}&gt;不续跑&lt;/span&gt;。再花 ¥6~8 与 6~8 小时，大概率还是换来「不可判定」。&#10;                    &lt;/Text&gt;&#10;                &lt;/Box&gt;&#10;            &lt;/Box&gt;&#10;        &lt;/Box&gt;&#10;&#10;        {/* 底部结论条 */}&#10;        &lt;Box style={{ height: '56px', background: '#F0F5FC', borderRadius: 8, flexDirection: 'row', alignItems: 'center', padding: '0 22px', gap: 14 }}&gt;&#10;            &lt;Box style={{ width: '4px', height: '32px', background: '#1E4FA8' }} /&gt;&#10;            &lt;Text style={{ fontSize: 18, color: '#1A2230' }}&gt;「不可判定」&lt;span style={{ fontWeight: 'bold', color: '#0E3F8C' }}&gt;不等于&lt;/span&gt;「系统变差了」——它说的是：这台仪器分辨不出，需要换验收口径。&lt;/Text&gt;&#10;        &lt;/Box&gt;&#10;    &lt;/Box&gt;&#10;&#10;    &lt;Box style={{ height: '12px' }} /&gt;&#10;&#10;    {/* D · 页脚 */}&#10;    &lt;Box style={{ height: '32px', flexDirection: 'row', alignItems: 'center', justifyContent: 'space-between' }}&gt;&#10;        &lt;Text style={{ fontSize: 14, color: '#8B97A8' }}&gt;DeepResearch 项目汇报 · 2026-10&lt;/Text&gt;&#10;        &lt;Text style={{ fontSize: 14, color: '#1E4FA8' }}&gt;15 / 2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381000" y="228600"/>
            <a:ext cx="11430000" cy="4572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DeepResearch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深度研究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对照实验：四指标全部不可判定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381000" y="12668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20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题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× 3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轮同题配对，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before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09-16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vs after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09-19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），冻结代码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f723c2d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381000" y="1628775"/>
            <a:ext cx="342900" cy="238125"/>
          </a:xfrm>
          <a:prstGeom prst="roundRect">
            <a:avLst>
              <a:gd name="adj" fmla="val 4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95300" y="1666875"/>
            <a:ext cx="114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Q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19150" y="1647825"/>
            <a:ext cx="3238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改完之后，平均质量到底变好了还是变差了？</a:t>
            </a:r>
            <a:endParaRPr/>
          </a:p>
        </p:txBody>
      </p:sp>
      <p:graphicFrame>
        <p:nvGraphicFramePr>
          <p:cNvPr id="160" name=""/>
          <p:cNvGraphicFramePr/>
          <p:nvPr/>
        </p:nvGraphicFramePr>
        <p:xfrm rot="0" flipH="0" flipV="0">
          <a:off x="381000" y="1981200"/>
          <a:ext cx="7086600" cy="3467100"/>
        </p:xfrm>
        <a:graphic>
          <a:graphicData uri="http://schemas.openxmlformats.org/drawingml/2006/table">
            <a:tbl>
              <a:tblGrid>
                <a:gridCol w="2204918">
                  <a:extLst>
                    <a:ext uri="{9D8B030D-6E8A-4147-A177-3AD203B41FA5}">
                      <a16:colId val="1"/>
                    </a:ext>
                  </a:extLst>
                </a:gridCol>
                <a:gridCol w="988207">
                  <a:extLst>
                    <a:ext uri="{9D8B030D-6E8A-4147-A177-3AD203B41FA5}">
                      <a16:colId val="2"/>
                    </a:ext>
                  </a:extLst>
                </a:gridCol>
                <a:gridCol w="884341">
                  <a:extLst>
                    <a:ext uri="{9D8B030D-6E8A-4147-A177-3AD203B41FA5}">
                      <a16:colId val="3"/>
                    </a:ext>
                  </a:extLst>
                </a:gridCol>
                <a:gridCol w="1062396">
                  <a:extLst>
                    <a:ext uri="{9D8B030D-6E8A-4147-A177-3AD203B41FA5}">
                      <a16:colId val="4"/>
                    </a:ext>
                  </a:extLst>
                </a:gridCol>
                <a:gridCol w="795314">
                  <a:extLst>
                    <a:ext uri="{9D8B030D-6E8A-4147-A177-3AD203B41FA5}">
                      <a16:colId val="5"/>
                    </a:ext>
                  </a:extLst>
                </a:gridCol>
                <a:gridCol w="1151424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69342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before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after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MDE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判定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9342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coverage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44.9%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39.8%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−5.1pp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10.66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不可判定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9342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citation_accuracy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75.2%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78.3%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+3.1pp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9.21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不可判定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9342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retrieval_hit_rate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55.2%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52.7%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−2.5pp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3.88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不可判定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9342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steps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9.4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8.2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0E3F8C"/>
                          </a:solidFill>
                          <a:latin typeface="Microsoft YaHei"/>
                          <a:ea typeface="Microsoft YaHei"/>
                        </a:rPr>
                        <a:t>−1.2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1.36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不可判定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381000" y="5543550"/>
            <a:ext cx="7086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MDE =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最小可检出效应（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轮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vs 3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轮）；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|Δ|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小于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MDE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即分辨不出差异是否由改动引起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658100" y="1600200"/>
            <a:ext cx="41529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为什么判不动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7658100" y="1981200"/>
            <a:ext cx="4152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噪声比效应大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7658100" y="2228850"/>
            <a:ext cx="4152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coverage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run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内噪声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σ≈24pp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MDE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高达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10.66pp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，而预期效应只有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4~10pp——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尺子比被测的东西还粗。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7658100" y="2876550"/>
            <a:ext cx="41529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658100" y="3000375"/>
            <a:ext cx="4152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before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基线不可重采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658100" y="3248025"/>
            <a:ext cx="4152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代码已改，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before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侧的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3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轮永远固定；单独加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after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轮次最多把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MDE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再降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14%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，跑到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9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轮仍判不动。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7658100" y="3895725"/>
            <a:ext cx="41529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658100" y="4019550"/>
            <a:ext cx="4152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steps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的下降要单独归因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7658100" y="4267200"/>
            <a:ext cx="4152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它来自一次功能性修复（旧模板引号叠加导致必现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SyntaxError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），不是质量提升的证据。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7658100" y="4914900"/>
            <a:ext cx="4152900" cy="781050"/>
          </a:xfrm>
          <a:prstGeom prst="roundRect">
            <a:avLst>
              <a:gd name="adj" fmla="val 975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810500" y="5048250"/>
            <a:ext cx="3848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结论：以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 3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轮结案，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不续跑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。再花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 ¥6~8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 6~8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小时，大概率还是换来「不可判定」。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381000" y="5810250"/>
            <a:ext cx="114300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590550" y="5924550"/>
            <a:ext cx="3810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762000" y="5972175"/>
            <a:ext cx="6886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「不可判定」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不等于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「系统变差了」——它说的是：这台仪器分辨不出，需要换验收口径。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DeepResearch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项目汇报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2026-10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15 / 23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9982200" y="3619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04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评测方法与实验结果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79" name="" descr="&lt;Slide style={{ width: '1280px', height: '720px', padding: '24px 40px', background: '#FFFFFF' }}&gt;&#10;&#10;    {/* A · 页眉顶条 */}&#10;    &lt;Box style={{ height: '48px', background: '#0E3F8C', borderRadius: 6, flexDirection: 'row', alignItems: 'center', justifyContent: 'space-between', padding: '0 24px' }}&gt;&#10;        &lt;Text style={{ fontSize: 16, color: '#FFFFFF', fontWeight: 'bold' }}&gt;DeepResearch · 深度研究 Agent&lt;/Text&gt;&#10;        &lt;Text style={{ fontSize: 16, color: '#FFFFFF', opacity: 0.85 }}&gt;04 评测方法与实验结果&lt;/Text&gt;&#10;    &lt;/Box&gt;&#10;&#10;    &lt;Box style={{ height: '12px' }} /&gt;&#10;&#10;    {/* B · 标题块 */}&#10;    &lt;Box style={{ height: '72px', justifyContent: 'center', gap: 4 }}&gt;&#10;        &lt;Text style={{ fontSize: 34, fontWeight: 'bold', color: '#1A2230' }}&gt;诚实基线：39.8% 就写 39.8%&lt;/Text&gt;&#10;        &lt;Text style={{ fontSize: 16, color: '#4A5568' }}&gt;统计侧判不动，就换零噪声的确定性断言来验收——两者不能互相冒充&lt;/Text&gt;&#10;    &lt;/Box&gt;&#10;&#10;    &lt;Box style={{ height: '12px' }} /&gt;&#10;&#10;    {/* C · 内容区：左巨型数字 + 右四条确定性断言 */}&#10;    &lt;Box style={{ height: '484px', flexDirection: 'row', gap: 24 }}&gt;&#10;&#10;        {/* 左 · 锚点数字 */}&#10;        &lt;Box style={{ width: '440px', background: '#F0F5FC', borderRadius: 8, padding: '28px 30px', gap: 10 }}&gt;&#10;            &lt;Text style={{ fontSize: 16, color: '#4A5568' }}&gt;after 基线 · coverage&lt;/Text&gt;&#10;            &lt;Box style={{ flexDirection: 'row', alignItems: 'baseline', gap: 4 }}&gt;&#10;                &lt;Text style={{ fontSize: 110, fontWeight: 'bold', color: '#0E3F8C', lineHeight: 1.0 }}&gt;39.8&lt;/Text&gt;&#10;                &lt;Text style={{ fontSize: 44, fontWeight: 'bold', color: '#0E3F8C' }}&gt;%&lt;/Text&gt;&#10;            &lt;/Box&gt;&#10;            &lt;Text style={{ fontSize: 15, color: '#4A5568', lineHeight: 1.5 }}&gt;20 题 × 3 轮均值；before 为 44.9%，差值 −5.1pp，判定为不可判定。&lt;/Text&gt;&#10;            &lt;Box style={{ height: '1px', background: '#D6DCE5', marginTop: 4 }} /&gt;&#10;            &lt;Box style={{ flexDirection: 'row' }}&gt;&#10;                &lt;Box style={{ padding: '6px 14px', background: '#FFC107', borderRadius: 12 }}&gt;&#10;                    &lt;Text style={{ fontSize: 14, fontWeight: 'bold', color: '#1A2230' }}&gt;不粉饰，也不自我贬低&lt;/Text&gt;&#10;                &lt;/Box&gt;&#10;            &lt;/Box&gt;&#10;            &lt;Text style={{ fontSize: 19, color: '#1A2230', lineHeight: 1.5, fontWeight: 'bold', marginTop: 6 }}&gt;&#10;                「不确定的数字就写不确定」——追问时有据可查，比一个好看但站不住的数字有用得多。&#10;            &lt;/Text&gt;&#10;            &lt;Box style={{ marginTop: 'auto' }}&gt;&#10;                &lt;Text style={{ fontSize: 13, color: '#8B97A8', lineHeight: 1.5 }}&gt;&#10;                    口径说明：coverage / citation 均为机器评分（LLM-as-judge），另有报告级人工抽检兜底；另有四项断言（状态分层 / 异常不伪装 / 质量闸 / 产物治理）同样全绿。&#10;                &lt;/Text&gt;&#10;            &lt;/Box&gt;&#10;        &lt;/Box&gt;&#10;&#10;        {/* 右 · 四条确定性断言 */}&#10;        &lt;Box style={{ width: '736px', gap: 12 }}&gt;&#10;            &lt;Box style={{ height: '34px', flexDirection: 'row', alignItems: 'center', gap: 12 }}&gt;&#10;                &lt;Text style={{ fontSize: 19, fontWeight: 'bold', color: '#0E3F8C' }}&gt;换成确定性断言后，八项全部可验收（零噪声，不依赖统计功效）&lt;/Text&gt;&#10;            &lt;/Box&gt;&#10;&#10;            &lt;Box style={{ flex: 1, flexDirection: 'row', alignItems: 'center', gap: 16, padding: '14px 20px', background: '#FFFFFF', border: '1px solid #D6DCE5', borderRadius: 8 }}&gt;&#10;                &lt;Box style={{ width: '120px' }}&gt;&#10;                    &lt;Text style={{ fontSize: 30, fontWeight: 'bold', color: '#0E3F8C' }}&gt;0→100%&lt;/Text&gt;&#10;                &lt;/Box&gt;&#10;                &lt;Box style={{ flex: 1, gap: 3 }}&gt;&#10;                    &lt;Text style={{ fontSize: 19, fontWeight: 'bold', color: '#1A2230' }}&gt;故障可归因率&lt;/Text&gt;&#10;                    &lt;Text style={{ fontSize: 15, color: '#4A5568' }}&gt;工具 / provider / RAG / 内部错误均有明确 failure_reason，枚举单点定义，失败不会被记成成功&lt;/Text&gt;&#10;                &lt;/Box&gt;&#10;            &lt;/Box&gt;&#10;&#10;            &lt;Box style={{ flex: 1, flexDirection: 'row', alignItems: 'center', gap: 16, padding: '14px 20px', background: '#FFFFFF', border: '1px solid #D6DCE5', borderRadius: 8 }}&gt;&#10;                &lt;Box style={{ width: '120px' }}&gt;&#10;                    &lt;Text style={{ fontSize: 30, fontWeight: 'bold', color: '#0E3F8C' }}&gt;60 / 60&lt;/Text&gt;&#10;                &lt;/Box&gt;&#10;                &lt;Box style={{ flex: 1, gap: 3 }}&gt;&#10;                    &lt;Text style={{ fontSize: 19, fontWeight: 'bold', color: '#1A2230' }}&gt;完成率与零异常&lt;/Text&gt;&#10;                    &lt;Text style={{ fontSize: 15, color: '#4A5568' }}&gt;after 基线 3 轮共 60 个题目实例全部完成、无异常；before 基线三轮里有两轮各失败 1 题&lt;/Text&gt;&#10;                &lt;/Box&gt;&#10;            &lt;/Box&gt;&#10;&#10;            &lt;Box style={{ flex: 1, flexDirection: 'row', alignItems: 'center', gap: 16, padding: '14px 20px', background: '#FFFFFF', border: '1px solid #D6DCE5', borderRadius: 8 }}&gt;&#10;                &lt;Box style={{ width: '120px' }}&gt;&#10;                    &lt;Text style={{ fontSize: 30, fontWeight: 'bold', color: '#0E3F8C' }}&gt;¥0 ≠ 0&lt;/Text&gt;&#10;                &lt;/Box&gt;&#10;                &lt;Box style={{ flex: 1, gap: 3 }}&gt;&#10;                    &lt;Text style={{ fontSize: 19, fontWeight: 'bold', color: '#1A2230' }}&gt;成本守恒&lt;/Text&gt;&#10;                    &lt;Text style={{ fontSize: 15, color: '#4A5568' }}&gt;成本源缺失时显式降级并打标记，绝不静默显示 ¥0——曾真实发生过「token 一百万、成本显示零」&lt;/Text&gt;&#10;                &lt;/Box&gt;&#10;            &lt;/Box&gt;&#10;&#10;            &lt;Box style={{ flex: 1, flexDirection: 'row', alignItems: 'center', gap: 16, padding: '14px 20px', background: '#F0F5FC', borderRadius: 8 }}&gt;&#10;                &lt;Box style={{ width: '120px' }}&gt;&#10;                    &lt;Text style={{ fontSize: 30, fontWeight: 'bold', color: '#0E3F8C' }}&gt;可复算&lt;/Text&gt;&#10;                &lt;/Box&gt;&#10;                &lt;Box style={{ flex: 1, gap: 3 }}&gt;&#10;                    &lt;Text style={{ fontSize: 19, fontWeight: 'bold', color: '#1A2230' }}&gt;可复现元数据&lt;/Text&gt;&#10;                    &lt;Text style={{ fontSize: 15, color: '#4A5568' }}&gt;配置快照、五开关生效值、prompt_hash、scorer_version、git 修订随每轮落盘；历史缺字段如实记为「未记录」&lt;/Text&gt;&#10;                &lt;/Box&gt;&#10;            &lt;/Box&gt;&#10;        &lt;/Box&gt;&#10;    &lt;/Box&gt;&#10;&#10;    &lt;Box style={{ height: '12px' }} /&gt;&#10;&#10;    {/* D · 页脚 */}&#10;    &lt;Box style={{ height: '32px', flexDirection: 'row', alignItems: 'center', justifyContent: 'space-between' }}&gt;&#10;        &lt;Text style={{ fontSize: 14, color: '#8B97A8' }}&gt;DeepResearch 项目汇报 · 2026-10&lt;/Text&gt;&#10;        &lt;Text style={{ fontSize: 14, color: '#1E4FA8' }}&gt;16 / 2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381000" y="228600"/>
            <a:ext cx="11430000" cy="4572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DeepResearch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深度研究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诚实基线：</a:t>
            </a:r>
            <a:r>
              <a:rPr lang="en-US" sz="2550" b="1">
                <a:solidFill>
                  <a:srgbClr val="1A2230"/>
                </a:solidFill>
                <a:latin typeface="Microsoft YaHei"/>
                <a:ea typeface="Microsoft YaHei"/>
              </a:rPr>
              <a:t>39.8% </a:t>
            </a: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就写</a:t>
            </a:r>
            <a:r>
              <a:rPr lang="en-US" sz="2550" b="1">
                <a:solidFill>
                  <a:srgbClr val="1A2230"/>
                </a:solidFill>
                <a:latin typeface="Microsoft YaHei"/>
                <a:ea typeface="Microsoft YaHei"/>
              </a:rPr>
              <a:t> 39.8%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381000" y="12668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统计侧判不动，就换零噪声的确定性断言来验收——两者不能互相冒充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381000" y="1600200"/>
            <a:ext cx="4191000" cy="5105400"/>
          </a:xfrm>
          <a:prstGeom prst="roundRect">
            <a:avLst>
              <a:gd name="adj" fmla="val 181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66750" y="1866900"/>
            <a:ext cx="3619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after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基线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· coverage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66750" y="2152650"/>
            <a:ext cx="2238375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0E3F8C"/>
                </a:solidFill>
                <a:latin typeface="Microsoft YaHei"/>
                <a:ea typeface="Microsoft YaHei"/>
              </a:rPr>
              <a:t>39.8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2943225" y="2152650"/>
            <a:ext cx="390525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E3F8C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66750" y="3505200"/>
            <a:ext cx="3619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20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题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× 3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轮均值；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before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为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44.9%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，差值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−5.1pp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，判定为不可判定。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66750" y="4152900"/>
            <a:ext cx="36195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666750" y="4257675"/>
            <a:ext cx="1600200" cy="276225"/>
          </a:xfrm>
          <a:prstGeom prst="roundRect">
            <a:avLst>
              <a:gd name="adj" fmla="val 41379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00100" y="431482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A2230"/>
                </a:solidFill>
                <a:latin typeface="Microsoft YaHei"/>
                <a:ea typeface="Microsoft YaHei"/>
              </a:rPr>
              <a:t>不粉饰，也不自我贬低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66750" y="4686300"/>
            <a:ext cx="36195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「不确定的数字就写不确定」——追问时有据可查，比一个好看但站不住的数字有用得多。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66750" y="5762625"/>
            <a:ext cx="36195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口径说明：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coverage / citation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均为机器评分（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LLM-as-judge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），另有报告级人工抽检兜底；另有四项断言（状态分层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异常不伪装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质量闸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产物治理）同样全绿。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800600" y="1657350"/>
            <a:ext cx="52482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换成确定性断言后，八项全部可验收（零噪声，不依赖统计功效）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4800600" y="2038350"/>
            <a:ext cx="7010400" cy="962025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991100" y="2352675"/>
            <a:ext cx="12573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0→100%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286500" y="2228850"/>
            <a:ext cx="533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故障可归因率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286500" y="2476500"/>
            <a:ext cx="53340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工具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/ provider / RAG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内部错误均有明确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failure_reason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，枚举单点定义，失败不会被记成成功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4800600" y="3114675"/>
            <a:ext cx="70104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991100" y="3419475"/>
            <a:ext cx="1143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60 / 60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286500" y="3295650"/>
            <a:ext cx="533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完成率与零异常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286500" y="3543300"/>
            <a:ext cx="53340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after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基线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3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轮共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60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个题目实例全部完成、无异常；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before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基线三轮里有两轮各失败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1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题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4800600" y="4181475"/>
            <a:ext cx="7010400" cy="962025"/>
          </a:xfrm>
          <a:prstGeom prst="roundRect">
            <a:avLst>
              <a:gd name="adj" fmla="val 792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991100" y="4495800"/>
            <a:ext cx="1143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E3F8C"/>
                </a:solidFill>
                <a:latin typeface="Microsoft YaHei"/>
                <a:ea typeface="Microsoft YaHei"/>
              </a:rPr>
              <a:t>¥0 ≠ 0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286500" y="4371975"/>
            <a:ext cx="533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成本守恒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286500" y="4619625"/>
            <a:ext cx="53340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成本源缺失时显式降级并打标记，绝不静默显示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¥0——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曾真实发生过「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token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一百万、成本显示零」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4800600" y="5257800"/>
            <a:ext cx="7010400" cy="952500"/>
          </a:xfrm>
          <a:prstGeom prst="roundRect">
            <a:avLst>
              <a:gd name="adj" fmla="val 800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991100" y="5562600"/>
            <a:ext cx="1143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E3F8C"/>
                </a:solidFill>
                <a:latin typeface="Microsoft YaHei"/>
                <a:ea typeface="Microsoft YaHei"/>
              </a:rPr>
              <a:t>可复算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286500" y="5438775"/>
            <a:ext cx="5334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可复现元数据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286500" y="5686425"/>
            <a:ext cx="53340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配置快照、五开关生效值、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prompt_hash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scorer_version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git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修订随每轮落盘；历史缺字段如实记为「未记录」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DeepResearch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项目汇报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2026-10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16 / 23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9982200" y="3619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04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评测方法与实验结果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15" name="" descr="&lt;Slide style={{ width: '1280px', height: '720px', padding: 0, background: '#0E3F8C', flexDirection: 'row', alignItems: 'center', position: 'relative', overflow: 'hidden' }}&gt;&#10;&#10;    &lt;Box style={{ width: '280px', height: '720px', alignItems: 'center', justifyContent: 'center', gap: 8 }}&gt;&#10;        &lt;Text style={{ fontSize: 150, fontWeight: 'bold', color: '#F0F5FC', opacity: 0.3, lineHeight: 1.0 }}&gt;05&lt;/Text&gt;&#10;        &lt;Text style={{ fontSize: 14, color: '#FFFFFF', opacity: 0.6, letterSpacing: 3 }}&gt;CHAPTER 05&lt;/Text&gt;&#10;    &lt;/Box&gt;&#10;&#10;    &lt;Box style={{ width: '500px', height: '720px', justifyContent: 'center', gap: 18, paddingRight: 40 }}&gt;&#10;        &lt;Text style={{ fontSize: 40, fontWeight: 'bold', color: '#FFFFFF', lineHeight: 1.2 }}&gt;工程落地与总结&lt;/Text&gt;&#10;        &lt;Box style={{ width: '64px', height: '3px', background: '#FFFFFF', opacity: 0.5 }} /&gt;&#10;        &lt;Box style={{ gap: 12 }}&gt;&#10;            &lt;Text style={{ fontSize: 17, color: '#FFFFFF', opacity: 0.9 }}&gt;— FastAPI + React + SSE，Redis 队列 Worker&lt;/Text&gt;&#10;            &lt;Text style={{ fontSize: 17, color: '#FFFFFF', opacity: 0.9 }}&gt;— 账号会话、配额三闸、内容安全与申诉&lt;/Text&gt;&#10;            &lt;Text style={{ fontSize: 17, color: '#FFFFFF', opacity: 0.9 }}&gt;— 多租户 RAG 隔离，备份恢复演练进 CI&lt;/Text&gt;&#10;            &lt;Text style={{ fontSize: 17, color: '#FFFFFF', opacity: 0.9 }}&gt;— 界面实拍：发起 → 进度 → 报告 → trace&lt;/Text&gt;&#10;        &lt;/Box&gt;&#10;        &lt;Box style={{ flexDirection: 'row' }}&gt;&#10;            &lt;Box style={{ padding: '7px 14px', border: '1px solid rgba(255,255,255,0.4)', borderRadius: 14 }}&gt;&#10;                &lt;Text style={{ fontSize: 14, color: '#FFFFFF', opacity: 0.85 }}&gt;本章回答：它到底能不能跑起来&lt;/Text&gt;&#10;            &lt;/Box&gt;&#10;        &lt;/Box&gt;&#10;    &lt;/Box&gt;&#10;&#10;    &lt;Box style={{ width: '1px', height: '440px', background: '#FFFFFF', opacity: 0.18 }} /&gt;&#10;&#10;    &lt;Box style={{ width: '420px', height: '720px', alignItems: 'center', justifyContent: 'center', gap: 12 }}&gt;&#10;        &lt;Image&#10;            src='assets/ui-04-kb.png'&#10;            style={{ width: 368, height: 230, objectFit: 'cover', borderRadius: 12, border: '2px solid rgba(255,255,255,0.35)' }}&#10;        /&gt;&#10;        &lt;Text style={{ fontSize: 12, color: '#FFFFFF', opacity: 0.6 }}&gt;界面实拍 · 知识库面板：上传 / 重命名 / 重新分块&lt;/Text&gt;&#10;        &lt;Box style={{ flexDirection: 'row', gap: 8 }}&gt;&#10;            &lt;Box style={{ padding: '5px 12px', border: '1px solid rgba(255,255,255,0.4)', borderRadius: 12 }}&gt;&#10;                &lt;Text style={{ fontSize: 13, color: '#FFFFFF', opacity: 0.9 }}&gt;队列 Worker&lt;/Text&gt;&#10;            &lt;/Box&gt;&#10;            &lt;Box style={{ padding: '5px 12px', border: '1px solid rgba(255,255,255,0.4)', borderRadius: 12 }}&gt;&#10;                &lt;Text style={{ fontSize: 13, color: '#FFFFFF', opacity: 0.9 }}&gt;配额三闸&lt;/Text&gt;&#10;            &lt;/Box&gt;&#10;            &lt;Box style={{ padding: '5px 12px', border: '1px solid rgba(255,255,255,0.4)', borderRadius: 12 }}&gt;&#10;                &lt;Text style={{ fontSize: 13, color: '#FFFFFF', opacity: 0.9 }}&gt;多租户隔离&lt;/Text&gt;&#10;            &lt;/Box&gt;&#10;        &lt;/Box&gt;&#10;    &lt;/Box&gt;&#10;&#10;    &lt;Box style={{ position: 'absolute', bottom: 28, right: 56 }}&gt;&#10;        &lt;Text style={{ fontSize: 14, color: '#FFFFFF', opacity: 0.6 }}&gt;17 / 2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2667000" y="2162175"/>
            <a:ext cx="43815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FFFFFF"/>
                </a:solidFill>
                <a:latin typeface="Microsoft YaHei"/>
                <a:ea typeface="Microsoft YaHei"/>
              </a:rPr>
              <a:t>工程落地与总结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2667000" y="4400550"/>
            <a:ext cx="2133600" cy="295275"/>
          </a:xfrm>
          <a:prstGeom prst="roundRect">
            <a:avLst>
              <a:gd name="adj" fmla="val 45161"/>
            </a:avLst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7686675" y="2028825"/>
            <a:ext cx="3505200" cy="2190750"/>
          </a:xfrm>
          <a:prstGeom prst="rect">
            <a:avLst/>
          </a:prstGeom>
          <a:ln w="254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20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7686675" y="2028825"/>
            <a:ext cx="3505200" cy="2190750"/>
          </a:xfrm>
          <a:prstGeom prst="roundRect">
            <a:avLst>
              <a:gd name="adj" fmla="val 5217"/>
            </a:avLst>
          </a:prstGeom>
          <a:ln/>
        </p:spPr>
      </p:pic>
      <p:sp>
        <p:nvSpPr>
          <p:cNvPr id="221" name=""/>
          <p:cNvSpPr/>
          <p:nvPr/>
        </p:nvSpPr>
        <p:spPr>
          <a:xfrm rot="0" flipH="0" flipV="0">
            <a:off x="8105775" y="4591050"/>
            <a:ext cx="952500" cy="247650"/>
          </a:xfrm>
          <a:prstGeom prst="roundRect">
            <a:avLst>
              <a:gd name="adj" fmla="val 46154"/>
            </a:avLst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2" name=""/>
          <p:cNvSpPr/>
          <p:nvPr/>
        </p:nvSpPr>
        <p:spPr>
          <a:xfrm rot="0" flipH="0" flipV="0">
            <a:off x="9134475" y="4591050"/>
            <a:ext cx="723900" cy="247650"/>
          </a:xfrm>
          <a:prstGeom prst="roundRect">
            <a:avLst>
              <a:gd name="adj" fmla="val 46154"/>
            </a:avLst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9934575" y="4591050"/>
            <a:ext cx="847725" cy="247650"/>
          </a:xfrm>
          <a:prstGeom prst="roundRect">
            <a:avLst>
              <a:gd name="adj" fmla="val 46154"/>
            </a:avLst>
          </a:prstGeom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447675" y="2457450"/>
            <a:ext cx="1771650" cy="1714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0" b="1">
                <a:solidFill>
                  <a:srgbClr val="F0F5FC">
                    <a:alpha val="30000"/>
                  </a:srgbClr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90575" y="4248150"/>
            <a:ext cx="1095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CHAPTER 05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2667000" y="2886075"/>
            <a:ext cx="609600" cy="2857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2667000" y="3086100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 FastAPI + React + SSE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，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Redis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队列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Worker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2667000" y="340042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账号会话、配额三闸、内容安全与申诉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2667000" y="3714750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多租户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RAG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隔离，备份恢复演练进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CI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2667000" y="402907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—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界面实拍：发起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进度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报告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→ trace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2800350" y="446722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本章回答：它到底能不能跑起来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7429500" y="1333500"/>
            <a:ext cx="9525" cy="419100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191500" y="4333875"/>
            <a:ext cx="2505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界面实拍</a:t>
            </a:r>
            <a:r>
              <a:rPr lang="en-US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知识库面板：上传</a:t>
            </a:r>
            <a:r>
              <a:rPr lang="en-US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重命名</a:t>
            </a:r>
            <a:r>
              <a:rPr lang="en-US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重新分块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220075" y="4638675"/>
            <a:ext cx="723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队列</a:t>
            </a:r>
            <a:r>
              <a:rPr lang="en-US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 Worker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248775" y="46386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配额三闸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0048875" y="4638675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多租户隔离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1201400" y="64293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17 / 23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38" name="" descr="&lt;Slide style={{ width: '1280px', height: '720px', padding: '24px 40px', background: '#FFFFFF' }}&gt;&#10;&#10;    {/* A · 页眉顶条 */}&#10;    &lt;Box style={{ height: '48px', background: '#0E3F8C', borderRadius: 6, flexDirection: 'row', alignItems: 'center', justifyContent: 'space-between', padding: '0 24px' }}&gt;&#10;        &lt;Text style={{ fontSize: 16, color: '#FFFFFF', fontWeight: 'bold' }}&gt;DeepResearch · 深度研究 Agent&lt;/Text&gt;&#10;        &lt;Text style={{ fontSize: 16, color: '#FFFFFF', opacity: 0.85 }}&gt;05 工程落地与总结&lt;/Text&gt;&#10;    &lt;/Box&gt;&#10;&#10;    &lt;Box style={{ height: '12px' }} /&gt;&#10;&#10;    {/* B · 标题块 */}&#10;    &lt;Box style={{ height: '72px', justifyContent: 'center', gap: 4 }}&gt;&#10;        &lt;Text style={{ fontSize: 34, fontWeight: 'bold', color: '#1A2230' }}&gt;从脚本到服务：工程落地全景&lt;/Text&gt;&#10;        &lt;Text style={{ fontSize: 16, color: '#4A5568' }}&gt;CLI 只是入口之一；真正的形态是「有准入、有账本、有备份」的服务&lt;/Text&gt;&#10;    &lt;/Box&gt;&#10;&#10;    &lt;Box style={{ height: '12px' }} /&gt;&#10;&#10;    {/* C · 内容区：非对称双栏 62:38 */}&#10;    &lt;Box style={{ height: '484px', flexDirection: 'row', gap: 20 }}&gt;&#10;&#10;        {/* 左 · L1 分层架构 */}&#10;        &lt;Box style={{ width: '744px', background: '#F7F9FC', borderRadius: 8, alignItems: 'center', justifyContent: 'center' }}&gt;&#10;            &lt;svg width={700} height={464} viewBox='0 0 700 464'&gt;&#10;                &lt;path d='M350 72 L350 92' fill='none' stroke='#3D7BD9' strokeWidth='2' /&gt;&#10;                &lt;path d='M350 156 L350 176' fill='none' stroke='#3D7BD9' strokeWidth='2' /&gt;&#10;                &lt;path d='M350 240 L350 260' fill='none' stroke='#3D7BD9' strokeWidth='2' /&gt;&#10;                &lt;path d='M350 324 L350 344' fill='none' stroke='#3D7BD9' strokeWidth='2' /&gt;&#10;&#10;                {/* 呈现层 */}&#10;                &lt;rect x='30' y='8' width='640' height='64' rx='8' fill='#0E3F8C' /&gt;&#10;                &lt;text x='52' y='38' fontSize='15' fill='#FFFFFF' fontWeight='bold'&gt;呈现层&lt;/text&gt;&#10;                &lt;text x='52' y='60' fontSize='13' fill='#F0F5FC'&gt;React + Vite + TS + Tailwind：实时阶段进度、协作式取消、报告与引用溯源&lt;/text&gt;&#10;&#10;                {/* 接口层 */}&#10;                &lt;rect x='30' y='92' width='640' height='64' rx='8' fill='#1E4FA8' /&gt;&#10;                &lt;text x='52' y='122' fontSize='15' fill='#FFFFFF' fontWeight='bold'&gt;接口层&lt;/text&gt;&#10;                &lt;text x='52' y='144' fontSize='13' fill='#F0F5FC'&gt;FastAPI：HTTP + SSE（对齐 AG-UI 语义）、结构化错误、请求指纹幂等、CSRF 双提交&lt;/text&gt;&#10;&#10;                {/* 执行层 */}&#10;                &lt;rect x='30' y='176' width='640' height='64' rx='8' fill='#1E4FA8' /&gt;&#10;                &lt;text x='52' y='206' fontSize='15' fill='#FFFFFF' fontWeight='bold'&gt;执行层&lt;/text&gt;&#10;                &lt;text x='52' y='228' fontSize='13' fill='#F0F5FC'&gt;Redis 队列 + Worker：租约 / 心跳 / 过期清扫 / 重试，PostgreSQL 为派发权威&lt;/text&gt;&#10;&#10;                {/* 数据层 */}&#10;                &lt;rect x='30' y='260' width='640' height='64' rx='8' fill='#0E3F8C' /&gt;&#10;                &lt;text x='52' y='290' fontSize='15' fill='#FFFFFF' fontWeight='bold'&gt;数据层&lt;/text&gt;&#10;                &lt;text x='52' y='312' fontSize='13' fill='#F0F5FC'&gt;PostgreSQL（21 个前向迁移 + 结构断言）、Redis、Qdrant（多租户隔离）、对象存储&lt;/text&gt;&#10;&#10;                {/* 观测层 */}&#10;                &lt;rect x='30' y='344' width='640' height='64' rx='8' fill='#FFFFFF' stroke='#3D7BD9' strokeWidth='2' /&gt;&#10;                &lt;text x='52' y='374' fontSize='15' fill='#1A2230' fontWeight='bold'&gt;观测与运维&lt;/text&gt;&#10;                &lt;text x='52' y='396' fontSize='13' fill='#4A5568'&gt;OTel 全链路 trace、/api/metrics 状态分布与成本、四类阈值告警、备份与恢复演练&lt;/text&gt;&#10;&#10;                &lt;text x='350' y='436' fontSize='12' fill='#8B97A8' textAnchor='middle'&gt;同一个镜像两种入口：api 与 worker；本地开发可切回进程内执行&lt;/text&gt;&#10;                &lt;text x='350' y='456' fontSize='12' fill='#8B97A8' textAnchor='middle'&gt;staging 已真实运行（单机 compose + 反向代理）&lt;/text&gt;&#10;            &lt;/svg&gt;&#10;        &lt;/Box&gt;&#10;&#10;        {/* 右 · 论述 */}&#10;        &lt;Box style={{ width: '436px', gap: 12 }}&gt;&#10;            &lt;Text style={{ fontSize: 23, fontWeight: 'bold', color: '#0E3F8C' }}&gt;让「能用」变成「敢放人用」&lt;/Text&gt;&#10;&#10;            &lt;Box style={{ gap: 5 }}&gt;&#10;                &lt;Text style={{ fontSize: 17, fontWeight: 'bold', color: '#1A2230' }}&gt;账号与配额三闸&lt;/Text&gt;&#10;                &lt;Text style={{ fontSize: 15, color: '#4A5568', lineHeight: 1.55 }}&gt;Argon2id 口令 + httpOnly 会话 + CSRF 双提交；月度预算 100% 熔断、单用户并发闸、每日次数闸，准入在单事务内原子判定。&lt;/Text&gt;&#10;            &lt;/Box&gt;&#10;&#10;            &lt;Box style={{ height: '1px', background: '#D6DCE5' }} /&gt;&#10;&#10;            &lt;Box style={{ gap: 5 }}&gt;&#10;                &lt;Text style={{ fontSize: 17, fontWeight: 'bold', color: '#1A2230' }}&gt;多租户 RAG 隔离&lt;/Text&gt;&#10;                &lt;Text style={{ fontSize: 15, color: '#4A5568', lineHeight: 1.55 }}&gt;检索作用域下推到向量库过滤并做后置兜底：owner 只见本人私有块，匿名只见无主历史块，不跨用户。&lt;/Text&gt;&#10;            &lt;/Box&gt;&#10;&#10;            &lt;Box style={{ height: '1px', background: '#D6DCE5' }} /&gt;&#10;&#10;            &lt;Box style={{ gap: 5 }}&gt;&#10;                &lt;Text style={{ fontSize: 17, fontWeight: 'bold', color: '#1A2230' }}&gt;内容安全与恢复&lt;/Text&gt;&#10;                &lt;Text style={{ fontSize: 15, color: '#4A5568', lineHeight: 1.55 }}&gt;输入预检 + 输出闸，审核状态与终局同事务落库；导出与历史回放强制脱敏。备份带可读校验，恢复演练进 CI。&lt;/Text&gt;&#10;            &lt;/Box&gt;&#10;&#10;            &lt;Box style={{ marginTop: 'auto', background: '#F0F5FC', borderRadius: 8, padding: '14px 16px' }}&gt;&#10;                &lt;Text style={{ fontSize: 15, color: '#1A2230', lineHeight: 1.5 }}&gt;&#10;                    一句话区分：&lt;span style={{ fontWeight: 'bold', color: '#0E3F8C' }}&gt;demo 只需要跑通一次，服务必须回答「超预算怎么办、别人能不能看到你的数据」。&lt;/span&gt;&#10;                &lt;/Text&gt;&#10;            &lt;/Box&gt;&#10;        &lt;/Box&gt;&#10;    &lt;/Box&gt;&#10;&#10;    &lt;Box style={{ height: '12px' }} /&gt;&#10;&#10;    {/* D · 页脚 */}&#10;    &lt;Box style={{ height: '32px', flexDirection: 'row', alignItems: 'center', justifyContent: 'space-between' }}&gt;&#10;        &lt;Text style={{ fontSize: 14, color: '#8B97A8' }}&gt;DeepResearch 项目汇报 · 2026-10&lt;/Text&gt;&#10;        &lt;Text style={{ fontSize: 14, color: '#1E4FA8' }}&gt;18 / 2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381000" y="228600"/>
            <a:ext cx="11430000" cy="4572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DeepResearch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深度研究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从脚本到服务：工程落地全景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381000" y="12668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CLI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只是入口之一；真正的形态是「有准入、有账本、有备份」的服务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381000" y="1600200"/>
            <a:ext cx="7086600" cy="4610100"/>
          </a:xfrm>
          <a:prstGeom prst="roundRect">
            <a:avLst>
              <a:gd name="adj" fmla="val 1653"/>
            </a:avLst>
          </a:prstGeom>
          <a:solidFill>
            <a:srgbClr val="F7F9FC"/>
          </a:solidFill>
          <a:ln/>
        </p:spPr>
        <p:txBody>
          <a:bodyPr/>
          <a:p/>
        </p:txBody>
      </p:sp>
      <p:pic>
        <p:nvPicPr>
          <p:cNvPr id="2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0550" y="1695450"/>
            <a:ext cx="6667500" cy="4419600"/>
          </a:xfrm>
          <a:prstGeom prst="rect">
            <a:avLst/>
          </a:prstGeom>
          <a:ln/>
        </p:spPr>
      </p:pic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658100" y="1600200"/>
            <a:ext cx="41529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让「能用」变成「敢放人用」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7658100" y="1981200"/>
            <a:ext cx="4152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账号与配额三闸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658100" y="2228850"/>
            <a:ext cx="41529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Argon2id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口令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+ httpOnly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会话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+ CSRF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双提交；月度预算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100%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熔断、单用户并发闸、每日次数闸，准入在单事务内原子判定。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7658100" y="3143250"/>
            <a:ext cx="41529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658100" y="3267075"/>
            <a:ext cx="4152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多租户</a:t>
            </a:r>
            <a:r>
              <a:rPr lang="en-US" sz="1275" b="1">
                <a:solidFill>
                  <a:srgbClr val="1A2230"/>
                </a:solidFill>
                <a:latin typeface="Microsoft YaHei"/>
                <a:ea typeface="Microsoft YaHei"/>
              </a:rPr>
              <a:t> RAG </a:t>
            </a: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隔离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7658100" y="3514725"/>
            <a:ext cx="4152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检索作用域下推到向量库过滤并做后置兜底：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owner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只见本人私有块，匿名只见无主历史块，不跨用户。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7658100" y="4162425"/>
            <a:ext cx="41529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7658100" y="4286250"/>
            <a:ext cx="4152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Microsoft YaHei"/>
                <a:ea typeface="Microsoft YaHei"/>
              </a:rPr>
              <a:t>内容安全与恢复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658100" y="4533900"/>
            <a:ext cx="4152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输入预检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输出闸，审核状态与终局同事务落库；导出与历史回放强制脱敏。备份带可读校验，恢复演练进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CI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7658100" y="5429250"/>
            <a:ext cx="4152900" cy="781050"/>
          </a:xfrm>
          <a:prstGeom prst="roundRect">
            <a:avLst>
              <a:gd name="adj" fmla="val 975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7810500" y="5562600"/>
            <a:ext cx="3848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一句话区分：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demo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只需要跑通一次，服务必须回答「超预算怎么办、别人能不能看到你的数据」。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DeepResearch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项目汇报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2026-10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18 / 23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0287000" y="36195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05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工程落地与总结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60" name="" descr="&lt;Slide style={{ width: '1280px', height: '720px', padding: '24px 40px', background: '#FFFFFF' }}&gt;&#10;&#10;    {/* A · 页眉顶条 */}&#10;    &lt;Box style={{ height: '48px', background: '#0E3F8C', borderRadius: 6, flexDirection: 'row', alignItems: 'center', justifyContent: 'space-between', padding: '0 24px' }}&gt;&#10;        &lt;Text style={{ fontSize: 16, color: '#FFFFFF', fontWeight: 'bold' }}&gt;DeepResearch · 深度研究 Agent&lt;/Text&gt;&#10;        &lt;Text style={{ fontSize: 16, color: '#FFFFFF', opacity: 0.85 }}&gt;05 工程落地与总结&lt;/Text&gt;&#10;    &lt;/Box&gt;&#10;&#10;    &lt;Box style={{ height: '12px' }} /&gt;&#10;&#10;    {/* B · 标题块 */}&#10;    &lt;Box style={{ height: '72px', justifyContent: 'center', gap: 4 }}&gt;&#10;        &lt;Text style={{ fontSize: 34, fontWeight: 'bold', color: '#1A2230' }}&gt;工作台首页：发起研究之前&lt;/Text&gt;&#10;        &lt;Text style={{ fontSize: 16, color: '#4A5568' }}&gt;五步流程条 + 阶段进度面板 + 知识库入口，一屏交代「研究会长什么样」&lt;/Text&gt;&#10;    &lt;/Box&gt;&#10;&#10;    &lt;Box style={{ height: '12px' }} /&gt;&#10;&#10;    {/* C · 内容区：左大图（首页截图）+ 右侧要点 */}&#10;    &lt;Box style={{ height: '484px', flexDirection: 'row', gap: 20 }}&gt;&#10;&#10;        {/* 左 · 首页截图 */}&#10;        &lt;Box style={{ width: '696px', gap: 8 }}&gt;&#10;            &lt;Image&#10;                src='assets/ui-01-home.png'&#10;                style={{ width: 696, height: 435, objectFit: 'cover', borderRadius: 8, border: '1px solid #D6DCE5' }}&#10;            /&gt;&#10;            &lt;Text style={{ fontSize: 14, color: '#8B97A8' }}&gt;&#10;                本地模式（未登录）下的工作台；鉴权开启后此处为登录门 + 邀请制&#10;            &lt;/Text&gt;&#10;        &lt;/Box&gt;&#10;&#10;        {/* 右 · 要点 */}&#10;        &lt;Box style={{ width: '484px', gap: 10 }}&gt;&#10;            &lt;Box style={{ gap: 5 }}&gt;&#10;                &lt;Text style={{ fontSize: 21, fontWeight: 'bold', color: '#0E3F8C' }}&gt;流程先行&lt;/Text&gt;&#10;                &lt;Text style={{ fontSize: 16, color: '#4A5568', lineHeight: 1.55 }}&gt;&#10;                    新研究 → 等待与进度 → 报告阅读 → 引用检查 → 导出与分享，五步条常驻顶部；阶段进度面板（规划 / 检索 / 撰写 / 校验 / 渲染）在提交前就已挂好。&#10;                &lt;/Text&gt;&#10;            &lt;/Box&gt;&#10;&#10;            &lt;Box style={{ height: '1px', background: '#D6DCE5' }} /&gt;&#10;&#10;            &lt;Box style={{ gap: 5 }}&gt;&#10;                &lt;Text style={{ fontSize: 21, fontWeight: 'bold', color: '#0E3F8C' }}&gt;输入克制&lt;/Text&gt;&#10;                &lt;Text style={{ fontSize: 16, color: '#4A5568', lineHeight: 1.55 }}&gt;&#10;                    只有两个输入框：研究主题 + 附加要求（时间范围 / 关注维度 / 报告风格）；运行档位由服务端固定并随 run 快照留痕，客户端改不了底层参数。&#10;                &lt;/Text&gt;&#10;            &lt;/Box&gt;&#10;&#10;            &lt;Box style={{ height: '1px', background: '#D6DCE5' }} /&gt;&#10;&#10;            &lt;Box style={{ gap: 5 }}&gt;&#10;                &lt;Text style={{ fontSize: 21, fontWeight: 'bold', color: '#0E3F8C' }}&gt;知识库与历史&lt;/Text&gt;&#10;                &lt;Text style={{ fontSize: 16, color: '#4A5568', lineHeight: 1.55 }}&gt;&#10;                    右侧是文档摄取状态与证据边栏提示；顶部入口：上传文档、知识库清单（当前 17 篇）、历史任务、帮助与反馈。&#10;                &lt;/Text&gt;&#10;            &lt;/Box&gt;&#10;&#10;            &lt;Box style={{ marginTop: 'auto', background: '#F0F5FC', borderRadius: 8, padding: '12px 16px' }}&gt;&#10;                &lt;Text style={{ fontSize: 15, color: '#1A2230', lineHeight: 1.5 }}&gt;&#10;                    界面设计原则：&lt;span style={{ fontWeight: 'bold', color: '#0E3F8C' }}&gt;把「研究会长什么样」先告诉用户&lt;/span&gt;，而不是黑盒转圈。&#10;                &lt;/Text&gt;&#10;            &lt;/Box&gt;&#10;        &lt;/Box&gt;&#10;    &lt;/Box&gt;&#10;&#10;    &lt;Box style={{ height: '12px' }} /&gt;&#10;&#10;    {/* D · 页脚 */}&#10;    &lt;Box style={{ height: '32px', flexDirection: 'row', alignItems: 'center', justifyContent: 'space-between' }}&gt;&#10;        &lt;Text style={{ fontSize: 14, color: '#8B97A8' }}&gt;DeepResearch 项目汇报 · 2026-10&lt;/Text&gt;&#10;        &lt;Text style={{ fontSize: 14, color: '#1E4FA8' }}&gt;19 / 2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381000" y="228600"/>
            <a:ext cx="11430000" cy="4572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DeepResearch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深度研究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工作台首页：发起研究之前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381000" y="12668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五步流程条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阶段进度面板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知识库入口，一屏交代「研究会长什么样」</a:t>
            </a:r>
            <a:endParaRPr/>
          </a:p>
        </p:txBody>
      </p:sp>
      <p:sp>
        <p:nvSpPr>
          <p:cNvPr id="266" name=""/>
          <p:cNvSpPr/>
          <p:nvPr/>
        </p:nvSpPr>
        <p:spPr>
          <a:xfrm rot="0" flipH="0" flipV="0">
            <a:off x="381000" y="1600200"/>
            <a:ext cx="6629400" cy="4143375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67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381000" y="1600200"/>
            <a:ext cx="6629400" cy="4143375"/>
          </a:xfrm>
          <a:prstGeom prst="roundRect">
            <a:avLst>
              <a:gd name="adj" fmla="val 1839"/>
            </a:avLst>
          </a:prstGeom>
          <a:ln/>
        </p:spPr>
      </p:pic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381000" y="5819775"/>
            <a:ext cx="662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本地模式（未登录）下的工作台；鉴权开启后此处为登录门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邀请制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200900" y="1600200"/>
            <a:ext cx="461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流程先行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200900" y="1895475"/>
            <a:ext cx="46101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新研究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等待与进度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报告阅读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引用检查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导出与分享，五步条常驻顶部；阶段进度面板（规划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检索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撰写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校验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渲染）在提交前就已挂好。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7200900" y="2847975"/>
            <a:ext cx="46101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7200900" y="2952750"/>
            <a:ext cx="461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输入克制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7200900" y="3248025"/>
            <a:ext cx="46101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只有两个输入框：研究主题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附加要求（时间范围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关注维度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报告风格）；运行档位由服务端固定并随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run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快照留痕，客户端改不了底层参数。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7200900" y="4200525"/>
            <a:ext cx="46101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200900" y="4305300"/>
            <a:ext cx="461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Microsoft YaHei"/>
                <a:ea typeface="Microsoft YaHei"/>
              </a:rPr>
              <a:t>知识库与历史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200900" y="4600575"/>
            <a:ext cx="4610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右侧是文档摄取状态与证据边栏提示；顶部入口：上传文档、知识库清单（当前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17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篇）、历史任务、帮助与反馈。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7200900" y="5467350"/>
            <a:ext cx="4610100" cy="742950"/>
          </a:xfrm>
          <a:prstGeom prst="roundRect">
            <a:avLst>
              <a:gd name="adj" fmla="val 1025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7353300" y="5581650"/>
            <a:ext cx="43053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界面设计原则：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把「研究会长什么样」先告诉用户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，而不是黑盒转圈。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DeepResearch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项目汇报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2026-10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19 / 23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0287000" y="36195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05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工程落地与总结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26" name="" descr="&lt;Slide style={{ width: '1280px', height: '720px', padding: '24px 40px', background: '#FFFFFF' }}&gt;&#10;&#10;    {/* A · 页眉顶条 */}&#10;    &lt;Box style={{ height: '48px', background: '#0E3F8C', borderRadius: 6, flexDirection: 'row', alignItems: 'center', justifyContent: 'space-between', padding: '0 24px' }}&gt;&#10;        &lt;Text style={{ fontSize: 16, color: '#FFFFFF', fontWeight: 'bold' }}&gt;DeepResearch · 深度研究 Agent&lt;/Text&gt;&#10;        &lt;Text style={{ fontSize: 16, color: '#FFFFFF', opacity: 0.85 }}&gt;05 工程落地与总结&lt;/Text&gt;&#10;    &lt;/Box&gt;&#10;&#10;    &lt;Box style={{ height: '12px' }} /&gt;&#10;&#10;    {/* B · 标题块 */}&#10;    &lt;Box style={{ height: '72px', justifyContent: 'center', gap: 4 }}&gt;&#10;        &lt;Text style={{ fontSize: 34, fontWeight: 'bold', color: '#1A2230' }}&gt;跑给你看：Web 端从发起到报告&lt;/Text&gt;&#10;        &lt;Text style={{ fontSize: 16, color: '#4A5568' }}&gt;演示模式（DR_DEMO=1）走真实 SSE 管线：事件流、进度、降级与生产是同一条代码路径，只是不调用真实模型&lt;/Text&gt;&#10;    &lt;/Box&gt;&#10;&#10;    &lt;Box style={{ height: '12px' }} /&gt;&#10;&#10;    {/* C · 内容区：左大图（报告完成态）+ 右栏（运行中 + 要点） */}&#10;    &lt;Box style={{ height: '484px', flexDirection: 'row', gap: 20 }}&gt;&#10;&#10;        {/* 左 · 报告完成态截图 */}&#10;        &lt;Box style={{ width: '696px', gap: 8 }}&gt;&#10;            &lt;Image&#10;                src='assets/ui-03-report.png'&#10;                style={{ width: 696, height: 435, objectFit: 'cover', borderRadius: 8, border: '1px solid #D6DCE5' }}&#10;            /&gt;&#10;            &lt;Text style={{ fontSize: 14, color: '#8B97A8' }}&gt;&#10;                报告完成态：引用校验 2/2 严格通过 · 完成节点 11 · Token 24,816 · 报告 729 字 · 成本估算 ¥0.30&#10;            &lt;/Text&gt;&#10;        &lt;/Box&gt;&#10;&#10;        {/* 右 · 运行中截图 + 要点 */}&#10;        &lt;Box style={{ width: '484px', gap: 8 }}&gt;&#10;            &lt;Image&#10;                src='assets/ui-02-running.png'&#10;                style={{ width: 484, height: 272, objectFit: 'cover', borderRadius: 8, border: '1px solid #D6DCE5' }}&#10;            /&gt;&#10;            &lt;Text style={{ fontSize: 14, color: '#8B97A8' }}&gt;&#10;                运行中：检索阶段 30%，depth=2、裁决=continue，Token 实时累计&#10;            &lt;/Text&gt;&#10;&#10;            &lt;Box style={{ marginTop: 6, gap: 8 }}&gt;&#10;                &lt;Box style={{ flexDirection: 'row', gap: 10, alignItems: 'flex-start' }}&gt;&#10;                    &lt;Box style={{ width: '6px', height: '6px', borderRadius: 3, background: '#1E4FA8', marginTop: 8 }} /&gt;&#10;                    &lt;Text style={{ fontSize: 16, color: '#4A5568', lineHeight: 1.5, flex: 1 }}&gt;SSE 实时事件：阶段进度、活动流、降级与恢复同屏可见，随时可协作式取消&lt;/Text&gt;&#10;                &lt;/Box&gt;&#10;                &lt;Box style={{ flexDirection: 'row', gap: 10, alignItems: 'flex-start' }}&gt;&#10;                    &lt;Box style={{ width: '6px', height: '6px', borderRadius: 3, background: '#1E4FA8', marginTop: 8 }} /&gt;&#10;                    &lt;Text style={{ fontSize: 16, color: '#4A5568', lineHeight: 1.5, flex: 1 }}&gt;运行摘要六项：总耗时 / 完成节点 / 检索跳数 / 降级条目 / 报告字数 / 成本估算&lt;/Text&gt;&#10;                &lt;/Box&gt;&#10;                &lt;Box style={{ flexDirection: 'row', gap: 10, alignItems: 'flex-start' }}&gt;&#10;                    &lt;Box style={{ width: '6px', height: '6px', borderRadius: 3, background: '#1E4FA8', marginTop: 8 }} /&gt;&#10;                    &lt;Text style={{ fontSize: 16, color: '#4A5568', lineHeight: 1.5, flex: 1 }}&gt;报告可导出 .md，文件名 = 主题名，正文带 run_id 与引用清单&lt;/Text&gt;&#10;                &lt;/Box&gt;&#10;            &lt;/Box&gt;&#10;        &lt;/Box&gt;&#10;    &lt;/Box&gt;&#10;&#10;    &lt;Box style={{ height: '12px' }} /&gt;&#10;&#10;    {/* D · 页脚 */}&#10;    &lt;Box style={{ height: '32px', flexDirection: 'row', alignItems: 'center', justifyContent: 'space-between' }}&gt;&#10;        &lt;Text style={{ fontSize: 14, color: '#8B97A8' }}&gt;DeepResearch 项目汇报 · 2026-10&lt;/Text&gt;&#10;        &lt;Text style={{ fontSize: 14, color: '#1E4FA8' }}&gt;20 / 2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381000" y="228600"/>
            <a:ext cx="11430000" cy="4572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DeepResearch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深度研究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跑给你看：</a:t>
            </a:r>
            <a:r>
              <a:rPr lang="en-US" sz="2550" b="1">
                <a:solidFill>
                  <a:srgbClr val="1A2230"/>
                </a:solidFill>
                <a:latin typeface="Microsoft YaHei"/>
                <a:ea typeface="Microsoft YaHei"/>
              </a:rPr>
              <a:t>Web </a:t>
            </a: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端从发起到报告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381000" y="12668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演示模式（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DR_DEMO=1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）走真实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SSE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管线：事件流、进度、降级与生产是同一条代码路径，只是不调用真实模型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381000" y="1600200"/>
            <a:ext cx="6629400" cy="4143375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3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381000" y="1600200"/>
            <a:ext cx="6629400" cy="4143375"/>
          </a:xfrm>
          <a:prstGeom prst="roundRect">
            <a:avLst>
              <a:gd name="adj" fmla="val 1839"/>
            </a:avLst>
          </a:prstGeom>
          <a:ln/>
        </p:spPr>
      </p:pic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381000" y="5819775"/>
            <a:ext cx="662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报告完成态：引用校验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2/2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严格通过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完成节点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11 · Token 24,816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报告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729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字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成本估算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¥0.30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7200900" y="1600200"/>
            <a:ext cx="4610100" cy="25908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36" name=""/>
          <p:cNvPicPr>
            <a:picLocks noChangeAspect="1"/>
          </p:cNvPicPr>
          <p:nvPr/>
        </p:nvPicPr>
        <p:blipFill>
          <a:blip r:embed="rId2"/>
          <a:srcRect l="0" t="5041" r="0" b="5041"/>
          <a:stretch>
            <a:fillRect/>
          </a:stretch>
        </p:blipFill>
        <p:spPr>
          <a:xfrm rot="0" flipH="0" flipV="0">
            <a:off x="7200900" y="1600200"/>
            <a:ext cx="4610100" cy="2590800"/>
          </a:xfrm>
          <a:prstGeom prst="roundRect">
            <a:avLst>
              <a:gd name="adj" fmla="val 2941"/>
            </a:avLst>
          </a:prstGeom>
          <a:ln/>
        </p:spPr>
      </p:pic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7200900" y="4267200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运行中：检索阶段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30%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depth=2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、裁决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=continue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，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Token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实时累计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7200900" y="46386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7353300" y="4562475"/>
            <a:ext cx="44577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SSE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实时事件：阶段进度、活动流、降级与恢复同屏可见，随时可协作式取消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7200900" y="52673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7353300" y="5191125"/>
            <a:ext cx="44577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运行摘要六项：总耗时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完成节点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检索跳数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降级条目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报告字数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成本估算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7200900" y="58959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7353300" y="5819775"/>
            <a:ext cx="44577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报告可导出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.md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，文件名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=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主题名，正文带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run_id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与引用清单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DeepResearch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项目汇报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2026-10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20 / 23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0287000" y="36195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05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工程落地与总结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47" name="" descr="&lt;Slide style={{ width: '1280px', height: '720px', padding: '24px 40px', background: '#FFFFFF' }}&gt;&#10;&#10;    {/* A · 页眉顶条 */}&#10;    &lt;Box style={{ height: '48px', background: '#0E3F8C', borderRadius: 6, flexDirection: 'row', alignItems: 'center', justifyContent: 'space-between', padding: '0 24px' }}&gt;&#10;        &lt;Text style={{ fontSize: 16, color: '#FFFFFF', fontWeight: 'bold' }}&gt;DeepResearch · 深度研究 Agent&lt;/Text&gt;&#10;        &lt;Text style={{ fontSize: 16, color: '#FFFFFF', opacity: 0.85 }}&gt;05 工程落地与总结&lt;/Text&gt;&#10;    &lt;/Box&gt;&#10;&#10;    &lt;Box style={{ height: '12px' }} /&gt;&#10;&#10;    {/* B · 标题块 */}&#10;    &lt;Box style={{ height: '72px', justifyContent: 'center', gap: 4 }}&gt;&#10;        &lt;Text style={{ fontSize: 34, fontWeight: 'bold', color: '#1A2230' }}&gt;全链路可观测：一次真实运行的 trace&lt;/Text&gt;&#10;        &lt;Text style={{ fontSize: 16, color: '#4A5568' }}&gt;真实 CLI 运行（非演示模式）：主题「什么是 RAG?」，OpenTelemetry OTLP 导出至 Jaeger&lt;/Text&gt;&#10;    &lt;/Box&gt;&#10;&#10;    &lt;Box style={{ height: '12px' }} /&gt;&#10;&#10;    {/* C · 内容区：左大图（Jaeger trace）+ 右栏注解 */}&#10;    &lt;Box style={{ height: '484px', flexDirection: 'row', gap: 20 }}&gt;&#10;&#10;        {/* 左 · trace 截图 */}&#10;        &lt;Box style={{ width: '756px', gap: 8 }}&gt;&#10;            &lt;Image&#10;                src='assets/trace-jaeger.png'&#10;                style={{ width: 756, height: 472, objectFit: 'cover', borderRadius: 8, border: '1px solid #D6DCE5' }}&#10;            /&gt;&#10;        &lt;/Box&gt;&#10;&#10;        {/* 右 · 注解 */}&#10;        &lt;Box style={{ width: '424px', gap: 12 }}&gt;&#10;            &lt;Box style={{ flexDirection: 'row', alignItems: 'baseline', gap: 10 }}&gt;&#10;                &lt;Text style={{ fontSize: 72, fontWeight: 'bold', color: '#0E3F8C', lineHeight: 1.0 }}&gt;86&lt;/Text&gt;&#10;                &lt;Text style={{ fontSize: 18, color: '#4A5568' }}&gt;个 span / 全程 15m29s&lt;/Text&gt;&#10;            &lt;/Box&gt;&#10;&#10;            &lt;Box style={{ height: '1px', background: '#D6DCE5' }} /&gt;&#10;&#10;            &lt;Box style={{ gap: 10 }}&gt;&#10;                &lt;Box style={{ flexDirection: 'row', gap: 10, alignItems: 'flex-start' }}&gt;&#10;                    &lt;Box style={{ width: '6px', height: '6px', borderRadius: 3, background: '#1E4FA8', marginTop: 8 }} /&gt;&#10;                    &lt;Text style={{ fontSize: 16, color: '#4A5568', lineHeight: 1.5, flex: 1 }}&gt;R1–R6 逐跳展开：每一跳「检索 → 修订」清晰可见，图上的回环结构在 trace 里复现&lt;/Text&gt;&#10;                &lt;/Box&gt;&#10;                &lt;Box style={{ flexDirection: 'row', gap: 10, alignItems: 'flex-start' }}&gt;&#10;                    &lt;Box style={{ width: '6px', height: '6px', borderRadius: 3, background: '#1E4FA8', marginTop: 8 }} /&gt;&#10;                    &lt;Text style={{ fontSize: 16, color: '#4A5568', lineHeight: 1.5, flex: 1 }}&gt;每次 LLM 调用是一个 generation 子 span，模型（qwen-plus）与耗时逐条可查&lt;/Text&gt;&#10;                &lt;/Box&gt;&#10;                &lt;Box style={{ flexDirection: 'row', gap: 10, alignItems: 'flex-start' }}&gt;&#10;                    &lt;Box style={{ width: '6px', height: '6px', borderRadius: 3, background: '#1E4FA8', marginTop: 8 }} /&gt;&#10;                    &lt;Text style={{ fontSize: 16, color: '#4A5568', lineHeight: 1.5, flex: 1 }}&gt;写作节点 4m52s，是全链最长段——这也是单轮成本优化的下一个靶点&lt;/Text&gt;&#10;                &lt;/Box&gt;&#10;                &lt;Box style={{ flexDirection: 'row', gap: 10, alignItems: 'flex-start' }}&gt;&#10;                    &lt;Box style={{ width: '6px', height: '6px', borderRadius: 3, background: '#1E4FA8', marginTop: 8 }} /&gt;&#10;                    &lt;Text style={{ fontSize: 16, color: '#4A5568', lineHeight: 1.5, flex: 1 }}&gt;CLI 运行结束回显 trace URL；后端可插拔：Jaeger / 自托管 Langfuse 均可&lt;/Text&gt;&#10;                &lt;/Box&gt;&#10;            &lt;/Box&gt;&#10;&#10;            &lt;Box style={{ marginTop: 'auto', background: '#F0F5FC', borderRadius: 8, padding: '12px 16px' }}&gt;&#10;                &lt;Text style={{ fontSize: 15, color: '#1A2230', lineHeight: 1.5 }}&gt;&#10;                    可观测不是「加了日志」，而是&lt;span style={{ fontWeight: 'bold', color: '#0E3F8C' }}&gt;每一次决策都能按时间轴回放&lt;/span&gt;。&#10;                &lt;/Text&gt;&#10;            &lt;/Box&gt;&#10;        &lt;/Box&gt;&#10;    &lt;/Box&gt;&#10;&#10;    &lt;Box style={{ height: '12px' }} /&gt;&#10;&#10;    {/* D · 页脚 */}&#10;    &lt;Box style={{ height: '32px', flexDirection: 'row', alignItems: 'center', justifyContent: 'space-between' }}&gt;&#10;        &lt;Text style={{ fontSize: 14, color: '#8B97A8' }}&gt;DeepResearch 项目汇报 · 2026-10&lt;/Text&gt;&#10;        &lt;Text style={{ fontSize: 14, color: '#1E4FA8' }}&gt;21 / 2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9" name=""/>
          <p:cNvSpPr/>
          <p:nvPr/>
        </p:nvSpPr>
        <p:spPr>
          <a:xfrm rot="0" flipH="0" flipV="0">
            <a:off x="381000" y="228600"/>
            <a:ext cx="11430000" cy="4572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DeepResearch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深度研究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全链路可观测：一次真实运行的</a:t>
            </a:r>
            <a:r>
              <a:rPr lang="en-US" sz="2550" b="1">
                <a:solidFill>
                  <a:srgbClr val="1A2230"/>
                </a:solidFill>
                <a:latin typeface="Microsoft YaHei"/>
                <a:ea typeface="Microsoft YaHei"/>
              </a:rPr>
              <a:t> trace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381000" y="12668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真实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CLI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运行（非演示模式）：主题「什么是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RAG?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」，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OpenTelemetry OTLP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导出至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Jaeger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381000" y="1600200"/>
            <a:ext cx="7200900" cy="4495800"/>
          </a:xfrm>
          <a:prstGeom prst="rect">
            <a:avLst/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54" name=""/>
          <p:cNvPicPr>
            <a:picLocks noChangeAspect="1"/>
          </p:cNvPicPr>
          <p:nvPr/>
        </p:nvPicPr>
        <p:blipFill>
          <a:blip r:embed="rId1"/>
          <a:srcRect l="0" t="4593" r="0" b="4593"/>
          <a:stretch>
            <a:fillRect/>
          </a:stretch>
        </p:blipFill>
        <p:spPr>
          <a:xfrm rot="0" flipH="0" flipV="0">
            <a:off x="381000" y="1600200"/>
            <a:ext cx="7200900" cy="4495800"/>
          </a:xfrm>
          <a:prstGeom prst="roundRect">
            <a:avLst>
              <a:gd name="adj" fmla="val 1695"/>
            </a:avLst>
          </a:prstGeom>
          <a:ln/>
        </p:spPr>
      </p:pic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7772400" y="1600200"/>
            <a:ext cx="8477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0E3F8C"/>
                </a:solidFill>
                <a:latin typeface="Microsoft YaHei"/>
                <a:ea typeface="Microsoft YaHei"/>
              </a:rPr>
              <a:t>86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8715375" y="1600200"/>
            <a:ext cx="18288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个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span /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全程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15m29s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7772400" y="2543175"/>
            <a:ext cx="40386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58" name=""/>
          <p:cNvSpPr/>
          <p:nvPr/>
        </p:nvSpPr>
        <p:spPr>
          <a:xfrm rot="0" flipH="0" flipV="0">
            <a:off x="7772400" y="27432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7924800" y="2667000"/>
            <a:ext cx="3886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R1–R6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逐跳展开：每一跳「检索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修订」清晰可见，图上的回环结构在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trace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里复现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7772400" y="33909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7924800" y="3314700"/>
            <a:ext cx="3886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每次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LLM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调用是一个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generation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子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span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，模型（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qwen-plus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）与耗时逐条可查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7772400" y="40386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7924800" y="3962400"/>
            <a:ext cx="3886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写作节点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4m52s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，是全链最长段——这也是单轮成本优化的下一个靶点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7772400" y="46863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7924800" y="4610100"/>
            <a:ext cx="3886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CLI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运行结束回显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trace URL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；后端可插拔：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Jaeger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自托管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Langfuse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均可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7772400" y="5467350"/>
            <a:ext cx="4038600" cy="742950"/>
          </a:xfrm>
          <a:prstGeom prst="roundRect">
            <a:avLst>
              <a:gd name="adj" fmla="val 1025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7924800" y="5581650"/>
            <a:ext cx="37338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可观测不是「加了日志」，而是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每一次决策都能按时间轴回放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DeepResearch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项目汇报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2026-10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21 / 23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0287000" y="36195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05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工程落地与总结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71" name="" descr="&lt;Slide style={{ width: '1280px', height: '720px', padding: '24px 40px', background: '#FFFFFF' }}&gt;&#10;&#10;    {/* A · 页眉顶条 */}&#10;    &lt;Box style={{ height: '48px', background: '#0E3F8C', borderRadius: 6, flexDirection: 'row', alignItems: 'center', justifyContent: 'space-between', padding: '0 24px' }}&gt;&#10;        &lt;Text style={{ fontSize: 16, color: '#FFFFFF', fontWeight: 'bold' }}&gt;DeepResearch · 深度研究 Agent&lt;/Text&gt;&#10;        &lt;Text style={{ fontSize: 16, color: '#FFFFFF', opacity: 0.85 }}&gt;05 工程落地与总结&lt;/Text&gt;&#10;    &lt;/Box&gt;&#10;&#10;    &lt;Box style={{ height: '12px' }} /&gt;&#10;&#10;    {/* B · 标题块 */}&#10;    &lt;Box style={{ height: '72px', justifyContent: 'center', gap: 4 }}&gt;&#10;        &lt;Text style={{ fontSize: 34, fontWeight: 'bold', color: '#1A2230' }}&gt;质量门禁与真实运行数据&lt;/Text&gt;&#10;        &lt;Text style={{ fontSize: 16, color: '#4A5568' }}&gt;这些数字不是写在文档里的声明，是 CI 每次提交真跑出来的结果&lt;/Text&gt;&#10;    &lt;/Box&gt;&#10;&#10;    &lt;Box style={{ height: '12px' }} /&gt;&#10;&#10;    {/* C · 内容区：共享标题条 + 三张 KPI 卡 + 底部结论条 */}&#10;    &lt;Box style={{ height: '484px', gap: 10 }}&gt;&#10;&#10;        &lt;Box style={{ height: '40px', background: '#0E3F8C', borderRadius: 6, flexDirection: 'row', alignItems: 'center', gap: 12, padding: '0 20px' }}&gt;&#10;            &lt;Text style={{ fontSize: 18, fontWeight: 'bold', color: '#FFFFFF' }}&gt;测试 · 端到端 · 恢复&lt;/Text&gt;&#10;            &lt;Text style={{ fontSize: 15, color: '#FFFFFF', opacity: 0.8 }}&gt;三条线各自独立，任何一条红了就不允许合入&lt;/Text&gt;&#10;        &lt;/Box&gt;&#10;&#10;        &lt;Box style={{ flex: 1, flexDirection: 'row', gap: 16 }}&gt;&#10;&#10;            &lt;Box style={{ flex: 1, background: '#FFFFFF', border: '1px solid #D6DCE5', borderRadius: 8, padding: '20px 22px', gap: 6 }}&gt;&#10;                &lt;Box style={{ flexDirection: 'row', alignItems: 'baseline', gap: 8 }}&gt;&#10;                    &lt;Text style={{ fontSize: 76, fontWeight: 'bold', color: '#0E3F8C', lineHeight: 1.0 }}&gt;946&lt;/Text&gt;&#10;                    &lt;Text style={{ fontSize: 18, color: '#4A5568' }}&gt;通过&lt;/Text&gt;&#10;                &lt;/Box&gt;&#10;                &lt;Text style={{ fontSize: 19, fontWeight: 'bold', color: '#1A2230' }}&gt;单元测试（零 LLM、零 key）&lt;/Text&gt;&#10;                &lt;Text style={{ fontSize: 15, color: '#4A5568', lineHeight: 1.55 }}&gt;&#10;                    共 996 项收集，其中 50 项跳过的是真实 PG / Redis 用例——它们并没有被放弃，而是交给 CI 的 infra 任务在真实服务上强制执行。ruff 静态检查同样全过。&#10;                &lt;/Text&gt;&#10;                &lt;Box style={{ marginTop: 'auto', padding: '8px 12px', background: '#F0F5FC', borderRadius: 6 }}&gt;&#10;                    &lt;Text style={{ fontSize: 14, color: '#0E3F8C', fontWeight: 'bold' }}&gt;Python 3.11 / 3.12 / 3.13 三档并行&lt;/Text&gt;&#10;                &lt;/Box&gt;&#10;            &lt;/Box&gt;&#10;&#10;            &lt;Box style={{ flex: 1, background: '#FFFFFF', border: '1px solid #D6DCE5', borderRadius: 8, padding: '20px 22px', gap: 6 }}&gt;&#10;                &lt;Box style={{ flexDirection: 'row', alignItems: 'baseline', gap: 8 }}&gt;&#10;                    &lt;Text style={{ fontSize: 76, fontWeight: 'bold', color: '#0E3F8C', lineHeight: 1.0 }}&gt;49&lt;/Text&gt;&#10;                    &lt;Text style={{ fontSize: 18, color: '#4A5568' }}&gt;条用例&lt;/Text&gt;&#10;                &lt;/Box&gt;&#10;                &lt;Text style={{ fontSize: 19, fontWeight: 'bold', color: '#1A2230' }}&gt;浏览器端到端（9 个 spec）&lt;/Text&gt;&#10;                &lt;Text style={{ fontSize: 15, color: '#4A5568', lineHeight: 1.55 }}&gt;&#10;                    桌面与窄屏双视口实跑真实 SSE 管线：主流程、刷新恢复、取消语义、降级可见、导出、结构化错误重试、窄屏无横向滚动。前端另有类型检查与生产构建门禁。&#10;                &lt;/Text&gt;&#10;                &lt;Box style={{ marginTop: 'auto', padding: '8px 12px', background: '#F0F5FC', borderRadius: 6 }}&gt;&#10;                    &lt;Text style={{ fontSize: 14, color: '#0E3F8C', fontWeight: 'bold' }}&gt;官方 Chromium，无需预装浏览器&lt;/Text&gt;&#10;                &lt;/Box&gt;&#10;            &lt;/Box&gt;&#10;&#10;            &lt;Box style={{ flex: 1, background: '#F0F5FC', borderRadius: 8, padding: '20px 22px', gap: 6 }}&gt;&#10;                &lt;Box style={{ flexDirection: 'row', alignItems: 'baseline', gap: 8 }}&gt;&#10;                    &lt;Text style={{ fontSize: 76, fontWeight: 'bold', color: '#0E3F8C', lineHeight: 1.0 }}&gt;21&lt;/Text&gt;&#10;                    &lt;Text style={{ fontSize: 18, color: '#4A5568' }}&gt;个迁移&lt;/Text&gt;&#10;                &lt;/Box&gt;&#10;                &lt;Text style={{ fontSize: 19, fontWeight: 'bold', color: '#1A2230' }}&gt;前向迁移 + 17 项结构断言&lt;/Text&gt;&#10;                &lt;Text style={{ fontSize: 15, color: '#4A5568', lineHeight: 1.55 }}&gt;&#10;                    迁移只前进不回退，重复执行必须 applied=0；每次 PR 还会真跑一次「备份 → 清库 → 恢复 → 比对种子数据」，确保备份不是一堆打不开的文件。&#10;                &lt;/Text&gt;&#10;                &lt;Box style={{ marginTop: 'auto', padding: '8px 12px', background: '#FFFFFF', borderRadius: 6 }}&gt;&#10;                    &lt;Text style={{ fontSize: 14, color: '#0E3F8C', fontWeight: 'bold' }}&gt;恢复演练已进 CI，非人工抽查&lt;/Text&gt;&#10;                &lt;/Box&gt;&#10;            &lt;/Box&gt;&#10;        &lt;/Box&gt;&#10;&#10;        {/* 底部结论条 */}&#10;        &lt;Box style={{ height: '64px', background: '#F0F5FC', borderRadius: 8, flexDirection: 'row', alignItems: 'center', padding: '0 22px', gap: 14 }}&gt;&#10;            &lt;Box style={{ width: '4px', height: '40px', background: '#1E4FA8' }} /&gt;&#10;            &lt;Box style={{ gap: 2 }}&gt;&#10;                &lt;Text style={{ fontSize: 16, color: '#1A2230' }}&gt;真实代价：单轮 &lt;span style={{ fontWeight: 'bold', color: '#0E3F8C' }}&gt;¥0.79~0.92 / 48~51 分钟&lt;/span&gt;，偏慢，档位标定仍是开放问题。&lt;/Text&gt;&#10;                &lt;Text style={{ fontSize: 15, color: '#4A5568' }}&gt;诚实限制：取消与超时都是协作式的——Python 线程无法被 kill，硬截止只保证传输层收口，这是语言级限制而非实现偷懒。&lt;/Text&gt;&#10;            &lt;/Box&gt;&#10;        &lt;/Box&gt;&#10;    &lt;/Box&gt;&#10;&#10;    &lt;Box style={{ height: '12px' }} /&gt;&#10;&#10;    {/* D · 页脚 */}&#10;    &lt;Box style={{ height: '32px', flexDirection: 'row', alignItems: 'center', justifyContent: 'space-between' }}&gt;&#10;        &lt;Text style={{ fontSize: 14, color: '#8B97A8' }}&gt;DeepResearch 项目汇报 · 2026-10&lt;/Text&gt;&#10;        &lt;Text style={{ fontSize: 14, color: '#1E4FA8' }}&gt;22 / 2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3" name=""/>
          <p:cNvSpPr/>
          <p:nvPr/>
        </p:nvSpPr>
        <p:spPr>
          <a:xfrm rot="0" flipH="0" flipV="0">
            <a:off x="381000" y="228600"/>
            <a:ext cx="11430000" cy="4572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09600" y="361950"/>
            <a:ext cx="2371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DeepResearch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深度研究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 Agent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381000" y="838200"/>
            <a:ext cx="1143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质量门禁与真实运行数据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381000" y="1266825"/>
            <a:ext cx="11430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这些数字不是写在文档里的声明，是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CI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每次提交真跑出来的结果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381000" y="1600200"/>
            <a:ext cx="11430000" cy="381000"/>
          </a:xfrm>
          <a:prstGeom prst="roundRect">
            <a:avLst>
              <a:gd name="adj" fmla="val 15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571500" y="1685925"/>
            <a:ext cx="1562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测试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端到端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恢复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381000" y="2076450"/>
            <a:ext cx="3705225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590550" y="2266950"/>
            <a:ext cx="1343025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0E3F8C"/>
                </a:solidFill>
                <a:latin typeface="Microsoft YaHei"/>
                <a:ea typeface="Microsoft YaHei"/>
              </a:rPr>
              <a:t>946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2009775" y="2266950"/>
            <a:ext cx="34290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590550" y="3200400"/>
            <a:ext cx="3286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单元测试（零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 LLM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、零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 key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590550" y="3476625"/>
            <a:ext cx="3286125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共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996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项收集，其中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50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项跳过的是真实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PG / Redis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用例——它们并没有被放弃，而是交给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CI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infra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任务在真实服务上强制执行。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ruff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静态检查同样全过。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590550" y="5000625"/>
            <a:ext cx="3286125" cy="314325"/>
          </a:xfrm>
          <a:prstGeom prst="roundRect">
            <a:avLst>
              <a:gd name="adj" fmla="val 1818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704850" y="5076825"/>
            <a:ext cx="3057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Python 3.11 / 3.12 / 3.13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三档并行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4238625" y="2076450"/>
            <a:ext cx="371475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4448175" y="2266950"/>
            <a:ext cx="8953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0E3F8C"/>
                </a:solidFill>
                <a:latin typeface="Microsoft YaHei"/>
                <a:ea typeface="Microsoft YaHei"/>
              </a:rPr>
              <a:t>49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5419725" y="2266950"/>
            <a:ext cx="5143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条用例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4448175" y="3200400"/>
            <a:ext cx="3295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浏览器端到端（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9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个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 spec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4448175" y="3476625"/>
            <a:ext cx="3295650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桌面与窄屏双视口实跑真实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SSE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管线：主流程、刷新恢复、取消语义、降级可见、导出、结构化错误重试、窄屏无横向滚动。前端另有类型检查与生产构建门禁。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4448175" y="5000625"/>
            <a:ext cx="3295650" cy="314325"/>
          </a:xfrm>
          <a:prstGeom prst="roundRect">
            <a:avLst>
              <a:gd name="adj" fmla="val 1818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4562475" y="5076825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官方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 Chromium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，无需预装浏览器</a:t>
            </a:r>
            <a:endParaRPr/>
          </a:p>
        </p:txBody>
      </p:sp>
      <p:sp>
        <p:nvSpPr>
          <p:cNvPr id="393" name=""/>
          <p:cNvSpPr/>
          <p:nvPr/>
        </p:nvSpPr>
        <p:spPr>
          <a:xfrm rot="0" flipH="0" flipV="0">
            <a:off x="8105775" y="2076450"/>
            <a:ext cx="3705225" cy="3429000"/>
          </a:xfrm>
          <a:prstGeom prst="roundRect">
            <a:avLst>
              <a:gd name="adj" fmla="val 222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8315325" y="2266950"/>
            <a:ext cx="8953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0E3F8C"/>
                </a:solidFill>
                <a:latin typeface="Microsoft YaHei"/>
                <a:ea typeface="Microsoft YaHei"/>
              </a:rPr>
              <a:t>21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9286875" y="2266950"/>
            <a:ext cx="5143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个迁移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315325" y="3200400"/>
            <a:ext cx="3286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前向迁移</a:t>
            </a:r>
            <a:r>
              <a:rPr lang="en-US" sz="1425" b="1">
                <a:solidFill>
                  <a:srgbClr val="1A2230"/>
                </a:solidFill>
                <a:latin typeface="Microsoft YaHei"/>
                <a:ea typeface="Microsoft YaHei"/>
              </a:rPr>
              <a:t> + 17 </a:t>
            </a: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项结构断言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315325" y="3476625"/>
            <a:ext cx="3286125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迁移只前进不回退，重复执行必须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applied=0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；每次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PR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还会真跑一次「备份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清库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恢复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比对种子数据」，确保备份不是一堆打不开的文件。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8315325" y="5000625"/>
            <a:ext cx="3286125" cy="314325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8429625" y="5076825"/>
            <a:ext cx="3057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恢复演练已进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 CI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，非人工抽查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381000" y="5600700"/>
            <a:ext cx="11430000" cy="609600"/>
          </a:xfrm>
          <a:prstGeom prst="roundRect">
            <a:avLst>
              <a:gd name="adj" fmla="val 1250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01" name=""/>
          <p:cNvSpPr/>
          <p:nvPr/>
        </p:nvSpPr>
        <p:spPr>
          <a:xfrm rot="0" flipH="0" flipV="0">
            <a:off x="590550" y="5715000"/>
            <a:ext cx="381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762000" y="5715000"/>
            <a:ext cx="793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真实代价：单轮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¥0.79~0.92 / 48~51 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分钟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，偏慢，档位标定仍是开放问题。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762000" y="5924550"/>
            <a:ext cx="7934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诚实限制：取消与超时都是协作式的——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Python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线程无法被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kill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，硬截止只保证传输层收口，这是语言级限制而非实现偷懒。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381000" y="6400800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DeepResearch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项目汇报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2026-10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113538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4FA8"/>
                </a:solidFill>
                <a:latin typeface="Microsoft YaHei"/>
                <a:ea typeface="Microsoft YaHei"/>
              </a:rPr>
              <a:t>22 / 23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10287000" y="36195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05 </a:t>
            </a:r>
            <a:r>
              <a:rPr lang="zh-CN" sz="1200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工程落地与总结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2247900" y="1704975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三条线各自独立，任何一条红了就不允许合入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08" name="" descr="&lt;Slide style={{ width: '1280px', height: '720px', padding: 0, background: '#FFFFFF', flexDirection: 'row', position: 'relative', overflow: 'hidden' }}&gt;&#10;&#10;    {/* 顶部渐变条（与封面呼应） */}&#10;    &lt;Box style={{ position: 'absolute', top: 0, left: 0, width: '1280px', height: '8px', background: 'linear-gradient(135deg, #0E3F8C 0%, #1E4FA8 100%)' }} /&gt;&#10;&#10;    {/* 左 · 总结文字 */}&#10;    &lt;Box style={{ width: '800px', height: '720px', padding: '56px 56px 56px 64px', justifyContent: 'center', gap: 14 }}&gt;&#10;&#10;        &lt;Box style={{ flexDirection: 'row' }}&gt;&#10;            &lt;Box style={{ padding: '6px 16px', background: '#E8EFF8', borderRadius: 12 }}&gt;&#10;                &lt;Text style={{ fontSize: 15, color: '#0E3F8C', fontWeight: 'bold' }}&gt;总结与展望&lt;/Text&gt;&#10;            &lt;/Box&gt;&#10;        &lt;/Box&gt;&#10;&#10;        &lt;Text style={{ fontSize: 40, fontWeight: 'bold', color: '#1A2230', lineHeight: 1.2 }}&gt;&#10;            三条结论，三条还没做完的事&#10;        &lt;/Text&gt;&#10;&#10;        &lt;Box style={{ gap: 10, marginTop: 4 }}&gt;&#10;            &lt;Box style={{ flexDirection: 'row', gap: 12, alignItems: 'flex-start' }}&gt;&#10;                &lt;Box style={{ width: '24px', height: '24px', background: '#0E3F8C', borderRadius: 6, alignItems: 'center', justifyContent: 'center', marginTop: 3 }}&gt;&#10;                    &lt;Text style={{ fontSize: 14, color: '#FFFFFF', fontWeight: 'bold' }}&gt;1&lt;/Text&gt;&#10;                &lt;/Box&gt;&#10;                &lt;Text style={{ fontSize: 18, color: '#1A2230', lineHeight: 1.5, width: '620px' }}&gt;&#10;                    把「继续还是收尾」写进图结构而非提示词，硬闸确定性优先于模型裁决——这是它可被测试、可被复现的前提。&#10;                &lt;/Text&gt;&#10;            &lt;/Box&gt;&#10;&#10;            &lt;Box style={{ flexDirection: 'row', gap: 12, alignItems: 'flex-start' }}&gt;&#10;                &lt;Box style={{ width: '24px', height: '24px', background: '#0E3F8C', borderRadius: 6, alignItems: 'center', justifyContent: 'center', marginTop: 3 }}&gt;&#10;                    &lt;Text style={{ fontSize: 14, color: '#FFFFFF', fontWeight: 'bold' }}&gt;2&lt;/Text&gt;&#10;                &lt;/Box&gt;&#10;                &lt;Text style={{ fontSize: 18, color: '#1A2230', lineHeight: 1.5, width: '620px' }}&gt;&#10;                    引用是可复核的坐标（快照 + 逐字引文 + 偏移），自检零模型；不通过的论断进附录而非删除。&#10;                &lt;/Text&gt;&#10;            &lt;/Box&gt;&#10;&#10;            &lt;Box style={{ flexDirection: 'row', gap: 12, alignItems: 'flex-start' }}&gt;&#10;                &lt;Box style={{ width: '24px', height: '24px', background: '#0E3F8C', borderRadius: 6, alignItems: 'center', justifyContent: 'center', marginTop: 3 }}&gt;&#10;                    &lt;Text style={{ fontSize: 14, color: '#FFFFFF', fontWeight: 'bold' }}&gt;3&lt;/Text&gt;&#10;                &lt;/Box&gt;&#10;                &lt;Text style={{ fontSize: 18, color: '#1A2230', lineHeight: 1.5, width: '620px' }}&gt;&#10;                    四指标不可判定就写不可判定，改用八项零噪声断言验收——能验收的机制不等于平均质量变好。&#10;                &lt;/Text&gt;&#10;            &lt;/Box&gt;&#10;        &lt;/Box&gt;&#10;&#10;        &lt;Box style={{ width: '660px', height: '1px', background: '#D6DCE5', marginTop: 8 }} /&gt;&#10;&#10;        &lt;Box style={{ gap: 8 }}&gt;&#10;            &lt;Text style={{ fontSize: 17, fontWeight: 'bold', color: '#D9534F' }}&gt;仍未完成，一并摆在台面上&lt;/Text&gt;&#10;            &lt;Text style={{ fontSize: 16, color: '#4A5568', lineHeight: 1.55 }}&gt;&#10;                · 独立引用裁判尚未在固定证据池上重跑，现有引用准确率仍按非独立口径陈述&lt;br /&gt;&#10;                · 单轮 48~51 分钟偏慢，档位标定样本不足（deep 档尚为零样本）&lt;br /&gt;&#10;                · 公网入口与合规流程未完成，域名备案仍在进行中&#10;            &lt;/Text&gt;&#10;        &lt;/Box&gt;&#10;&#10;        &lt;Box style={{ flexDirection: 'row', alignItems: 'baseline', gap: 14, marginTop: 6 }}&gt;&#10;            &lt;Text style={{ fontSize: 22, fontWeight: 'bold', color: '#0E3F8C' }}&gt;谢谢大家，欢迎提问&lt;/Text&gt;&#10;            &lt;Text style={{ fontSize: 15, color: '#8B97A8' }}&gt;田金应 · 2026 年 10 月&lt;/Text&gt;&#10;        &lt;/Box&gt;&#10;&#10;        &lt;Box style={{ marginTop: 4, padding: '10px 16px', background: '#F0F5FC', borderRadius: 8 }}&gt;&#10;            &lt;Text style={{ fontSize: 14, color: '#4A5568', lineHeight: 1.5 }}&gt;&#10;                GitHub · TianJinYing2006/DeepResearch（MIT）· CI：Python 3.11 / 3.12 / 3.13 + frontend + infra + e2e 全绿，设计决策见 docs/decisions/ 共 11 篇 ADR&#10;            &lt;/Text&gt;&#10;        &lt;/Box&gt;&#10;    &lt;/Box&gt;&#10;&#10;    {/* 右 · 淡线稿（与封面呼应） */}&#10;    &lt;Box style={{ width: '480px', height: '720px', background: '#F0F5FC', alignItems: 'center', justifyContent: 'center' }}&gt;&#10;        &lt;svg width={400} height={520} viewBox='0 0 400 520'&gt;&#10;            &lt;path d='M200 46 L200 86' fill='none' stroke='#3D7BD9' strokeWidth='2' opacity='0.5' /&gt;&#10;            &lt;path d='M200 124 L200 164' fill='none' stroke='#3D7BD9' strokeWidth='2' opacity='0.5' /&gt;&#10;            &lt;path d='M200 202 L200 222 L80 222 L80 248' fill='none' stroke='#3D7BD9' strokeWidth='2' opacity='0.5' /&gt;&#10;            &lt;path d='M200 202 L200 222 L320 222 L320 248' fill='none' stroke='#3D7BD9' strokeWidth='2' opacity='0.5' /&gt;&#10;            &lt;path d='M320 286 L320 326' fill='none' stroke='#3D7BD9' strokeWidth='2' opacity='0.5' /&gt;&#10;            &lt;path d='M320 364 L320 404' fill='none' stroke='#3D7BD9' strokeWidth='2' opacity='0.5' /&gt;&#10;            &lt;path d='M80 267 L40 267 L40 105 L140 105' fill='none' stroke='#D9534F' strokeWidth='2' strokeDasharray='6 4' opacity='0.45' /&gt;&#10;&#10;            &lt;rect x='140' y='8' width='120' height='38' rx='8' fill='#0E3F8C' opacity='0.85' /&gt;&#10;            &lt;text x='200' y='33' fontSize='15' fill='#FFFFFF' textAnchor='middle' fontWeight='bold'&gt;plan&lt;/text&gt;&#10;&#10;            &lt;rect x='140' y='86' width='120' height='38' rx='8' fill='#0E3F8C' opacity='0.85' /&gt;&#10;            &lt;text x='200' y='111' fontSize='15' fill='#FFFFFF' textAnchor='middle' fontWeight='bold'&gt;research&lt;/text&gt;&#10;&#10;            &lt;rect x='140' y='164' width='120' height='38' rx='8' fill='#0E3F8C' opacity='0.85' /&gt;&#10;            &lt;text x='200' y='189' fontSize='15' fill='#FFFFFF' textAnchor='middle' fontWeight='bold'&gt;critic&lt;/text&gt;&#10;&#10;            &lt;rect x='24' y='248' width='112' height='38' rx='8' fill='#FFFFFF' stroke='#3D7BD9' strokeWidth='2' /&gt;&#10;            &lt;text x='80' y='273' fontSize='15' fill='#1A2230' textAnchor='middle' fontWeight='bold'&gt;revise&lt;/text&gt;&#10;&#10;            &lt;rect x='264' y='248' width='112' height='38' rx='8' fill='#FFFFFF' stroke='#3D7BD9' strokeWidth='2' /&gt;&#10;            &lt;text x='320' y='273' fontSize='15' fill='#1A2230' textAnchor='middle' fontWeight='bold'&gt;write&lt;/text&gt;&#10;&#10;            &lt;rect x='264' y='326' width='112' height='38' rx='8' fill='#1E4FA8' opacity='0.85' /&gt;&#10;            &lt;text x='320' y='351' fontSize='15' fill='#FFFFFF' textAnchor='middle' fontWeight='bold'&gt;validate&lt;/text&gt;&#10;&#10;            &lt;rect x='264' y='404' width='112' height='38' rx='8' fill='#0E3F8C' opacity='0.85' /&gt;&#10;            &lt;text x='320' y='429' fontSize='15' fill='#FFFFFF' textAnchor='middle' fontWeight='bold'&gt;render&lt;/text&gt;&#10;&#10;            &lt;text x='200' y='486' fontSize='14' fill='#0E3F8C' textAnchor='middle' fontWeight='bold'&gt;决策在图里，判断有出处&lt;/text&gt;&#10;        &lt;/svg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0" name=""/>
          <p:cNvSpPr/>
          <p:nvPr/>
        </p:nvSpPr>
        <p:spPr>
          <a:xfrm rot="0" flipH="0" flipV="0">
            <a:off x="609600" y="447675"/>
            <a:ext cx="1019175" cy="285750"/>
          </a:xfrm>
          <a:prstGeom prst="roundRect">
            <a:avLst>
              <a:gd name="adj" fmla="val 4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62000" y="5048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总结与展望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09600" y="866775"/>
            <a:ext cx="647700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A2230"/>
                </a:solidFill>
                <a:latin typeface="Microsoft YaHei"/>
                <a:ea typeface="Microsoft YaHei"/>
              </a:rPr>
              <a:t>三条结论，三条还没做完的事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609600" y="161925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685800" y="16573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952500" y="1590675"/>
            <a:ext cx="59055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把「继续还是收尾」写进图结构而非提示词，硬闸确定性优先于模型裁决——这是它可被测试、可被复现的前提。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609600" y="2333625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685800" y="2371725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952500" y="2305050"/>
            <a:ext cx="59055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引用是可复核的坐标（快照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逐字引文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偏移），自检零模型；不通过的论断进附录而非删除。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609600" y="304800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85800" y="30861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952500" y="3019425"/>
            <a:ext cx="59055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四指标不可判定就写不可判定，改用八项零噪声断言验收——能验收的机制不等于平均质量变好。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609600" y="3848100"/>
            <a:ext cx="62865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09600" y="3990975"/>
            <a:ext cx="6477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D9534F"/>
                </a:solidFill>
                <a:latin typeface="Microsoft YaHei"/>
                <a:ea typeface="Microsoft YaHei"/>
              </a:rPr>
              <a:t>仍未完成，一并摆在台面上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609600" y="4267200"/>
            <a:ext cx="6477000" cy="8572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独立引用裁判尚未在固定证据池上重跑，现有引用准确率仍按非独立口径陈述</a:t>
            </a:r>
            <a:endParaRPr/>
          </a:p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单轮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48~51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分钟偏慢，档位标定样本不足（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deep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档尚为零样本）</a:t>
            </a:r>
            <a:endParaRPr/>
          </a:p>
          <a:p>
            <a:pPr>
              <a:lnSpc>
                <a:spcPct val="155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公网入口与合规流程未完成，域名备案仍在进行中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609600" y="5314950"/>
            <a:ext cx="1885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谢谢大家，欢迎提问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2628900" y="5314950"/>
            <a:ext cx="146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田金应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· 2026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年</a:t>
            </a: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 10 </a:t>
            </a:r>
            <a:r>
              <a:rPr lang="zh-CN" sz="1125">
                <a:solidFill>
                  <a:srgbClr val="8B97A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609600" y="5743575"/>
            <a:ext cx="6477000" cy="676275"/>
          </a:xfrm>
          <a:prstGeom prst="roundRect">
            <a:avLst>
              <a:gd name="adj" fmla="val 1126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762000" y="5838825"/>
            <a:ext cx="61722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GitHub · TianJinYing2006/DeepResearch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MIT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）·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CI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：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Python 3.11 / 3.12 / 3.13 + frontend + infra + e2e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全绿，设计决策见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docs/decisions/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共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11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篇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 ADR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7620000" y="0"/>
            <a:ext cx="4572000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pic>
        <p:nvPicPr>
          <p:cNvPr id="4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0" y="952500"/>
            <a:ext cx="3810000" cy="4953000"/>
          </a:xfrm>
          <a:prstGeom prst="rect">
            <a:avLst/>
          </a:prstGeom>
          <a:ln/>
        </p:spPr>
      </p:pic>
      <p:sp>
        <p:nvSpPr>
          <p:cNvPr id="431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E3F8C"/>
              </a:gs>
              <a:gs pos="100000">
                <a:srgbClr val="1E4FA8"/>
              </a:gs>
            </a:gsLst>
            <a:lin ang="2700000" scaled="1"/>
          </a:gradFill>
          <a:ln/>
        </p:spPr>
        <p:txBody>
          <a:bodyPr/>
          <a:p/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2026-10-16T00:21:39Z</dcterms:created>
  <dcterms:modified xsi:type="dcterms:W3CDTF">2026-10-16T00:21:39Z</dcterms:modified>
</cp:coreProperties>
</file>